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610"/>
  </p:normalViewPr>
  <p:slideViewPr>
    <p:cSldViewPr snapToGrid="0" snapToObjects="1">
      <p:cViewPr varScale="1">
        <p:scale>
          <a:sx n="80" d="100"/>
          <a:sy n="80"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1754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context for this slide, verbatim from project review:
1. It doesn't actually verify the negotiation happened (the big one)
POST /listings/:id/negotiated-price just takes {buyerId, price} in the request body and writes it — it never checks chat-service to confirm the seller actually accepted an offer at that amount. That means the two services aren't really connected by data, just by convention: the frontend happens to call this endpoint right after an accept. But listing-service has no way to know the difference between "the seller genuinely accepted the offer" and "someone hit this endpoint directly with Postman and typed in a different number." If you wanted this to be secure, listing-service would need to either verify against chat-service's stored offer, or the accept endpoint itself would need to be the thing that writes the price — not two independently-callable endpoints trusting each other implicitly.
2. No atomicity across the two writes
Accepting a message (Mongo) and recording the price (Postgres) are two separate HTTP calls from the frontend. If the second one fails — network blip, listing-service is down — you're left with a message that says "accepted" and no negotiated price backing it up. There's no rollback, no retry queue, nothing reconciling the two.
3. No audit trail
ON CONFLICT DO UPDATE means a new accepted price silently overwrites the old one. If a buyer negotiates twice, you lose the record of the first negotiation entirely. For a real marketplace you'd probably want to keep every accepted offer as its own row and just query the most recent one, instead of destructively updating in place.
4. No expiration
A negotiated price lives forever once written. If a seller accepts a price today, that buyer can come back and buy it at that price months later, even if the seller would never have honored that now.
5. Any future client has to reimplement the two-step sequence correctly
Because the "accept then record price" logic lives in the frontend rather than the backend, a mobile app or a second frontend would have to know to make both calls in the right order. That's business logic that's arguably in the wrong layer.
6. Doesn't handle the listing selling out from under a negotiation
If a listing gets bought by someone else (or deleted) while a negotiated price still exists for a different buyer, that row just sits there stale — nothing cleans it up. ON DELETE CASCADE handles the listing-deleted case, but not the listing-sold-to-someone-else case.
If asked "how would you fix the biggest one" — see next slide.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1F3B"/>
          </a:solidFill>
          <a:ln/>
        </p:spPr>
      </p:sp>
      <p:sp>
        <p:nvSpPr>
          <p:cNvPr id="3" name="Shape 1"/>
          <p:cNvSpPr/>
          <p:nvPr/>
        </p:nvSpPr>
        <p:spPr>
          <a:xfrm>
            <a:off x="9692640" y="-1463040"/>
            <a:ext cx="4754880" cy="4754880"/>
          </a:xfrm>
          <a:prstGeom prst="ellipse">
            <a:avLst/>
          </a:prstGeom>
          <a:solidFill>
            <a:srgbClr val="FF6F59">
              <a:alpha val="12000"/>
            </a:srgbClr>
          </a:solidFill>
          <a:ln/>
        </p:spPr>
      </p:sp>
      <p:sp>
        <p:nvSpPr>
          <p:cNvPr id="4" name="Shape 2"/>
          <p:cNvSpPr/>
          <p:nvPr/>
        </p:nvSpPr>
        <p:spPr>
          <a:xfrm>
            <a:off x="-1280160" y="4206240"/>
            <a:ext cx="4206240" cy="4206240"/>
          </a:xfrm>
          <a:prstGeom prst="ellipse">
            <a:avLst/>
          </a:prstGeom>
          <a:solidFill>
            <a:srgbClr val="F4C95D">
              <a:alpha val="10000"/>
            </a:srgbClr>
          </a:solidFill>
          <a:ln/>
        </p:spPr>
      </p:sp>
      <p:sp>
        <p:nvSpPr>
          <p:cNvPr id="5" name="Text 3"/>
          <p:cNvSpPr/>
          <p:nvPr/>
        </p:nvSpPr>
        <p:spPr>
          <a:xfrm>
            <a:off x="822960" y="2331720"/>
            <a:ext cx="7315200" cy="1463040"/>
          </a:xfrm>
          <a:prstGeom prst="rect">
            <a:avLst/>
          </a:prstGeom>
          <a:noFill/>
          <a:ln/>
        </p:spPr>
        <p:txBody>
          <a:bodyPr wrap="square" lIns="0" tIns="0" rIns="0" bIns="0" rtlCol="0" anchor="ctr"/>
          <a:lstStyle/>
          <a:p>
            <a:pPr marL="0" indent="0">
              <a:buNone/>
            </a:pPr>
            <a:r>
              <a:rPr lang="en-US" sz="8400" b="1" kern="0" spc="200" dirty="0">
                <a:solidFill>
                  <a:srgbClr val="FFFFFF"/>
                </a:solidFill>
                <a:latin typeface="Cambria" pitchFamily="34" charset="0"/>
                <a:ea typeface="Cambria" pitchFamily="34" charset="-122"/>
                <a:cs typeface="Cambria" pitchFamily="34" charset="-120"/>
              </a:rPr>
              <a:t>TAGG</a:t>
            </a:r>
            <a:endParaRPr lang="en-US" sz="8400" dirty="0"/>
          </a:p>
        </p:txBody>
      </p:sp>
      <p:sp>
        <p:nvSpPr>
          <p:cNvPr id="6" name="Shape 4"/>
          <p:cNvSpPr/>
          <p:nvPr/>
        </p:nvSpPr>
        <p:spPr>
          <a:xfrm>
            <a:off x="868680" y="3703320"/>
            <a:ext cx="1463040" cy="54864"/>
          </a:xfrm>
          <a:prstGeom prst="rect">
            <a:avLst/>
          </a:prstGeom>
          <a:solidFill>
            <a:srgbClr val="FF6F59"/>
          </a:solidFill>
          <a:ln/>
        </p:spPr>
      </p:sp>
      <p:sp>
        <p:nvSpPr>
          <p:cNvPr id="7" name="Text 5"/>
          <p:cNvSpPr/>
          <p:nvPr/>
        </p:nvSpPr>
        <p:spPr>
          <a:xfrm>
            <a:off x="822960" y="3886200"/>
            <a:ext cx="7315200" cy="548640"/>
          </a:xfrm>
          <a:prstGeom prst="rect">
            <a:avLst/>
          </a:prstGeom>
          <a:noFill/>
          <a:ln/>
        </p:spPr>
        <p:txBody>
          <a:bodyPr wrap="square" rtlCol="0" anchor="ctr"/>
          <a:lstStyle/>
          <a:p>
            <a:pPr marL="0" indent="0">
              <a:buNone/>
            </a:pPr>
            <a:r>
              <a:rPr lang="en-US" sz="2200" i="1" dirty="0">
                <a:solidFill>
                  <a:srgbClr val="F4C95D"/>
                </a:solidFill>
                <a:latin typeface="Calibri" pitchFamily="34" charset="0"/>
                <a:ea typeface="Calibri" pitchFamily="34" charset="-122"/>
                <a:cs typeface="Calibri" pitchFamily="34" charset="-120"/>
              </a:rPr>
              <a:t>Buy. Sell. Chat. Bargain.</a:t>
            </a:r>
            <a:endParaRPr lang="en-US" sz="2200" dirty="0"/>
          </a:p>
        </p:txBody>
      </p:sp>
      <p:sp>
        <p:nvSpPr>
          <p:cNvPr id="8" name="Text 6"/>
          <p:cNvSpPr/>
          <p:nvPr/>
        </p:nvSpPr>
        <p:spPr>
          <a:xfrm>
            <a:off x="822960" y="4572000"/>
            <a:ext cx="7589520" cy="822960"/>
          </a:xfrm>
          <a:prstGeom prst="rect">
            <a:avLst/>
          </a:prstGeom>
          <a:noFill/>
          <a:ln/>
        </p:spPr>
        <p:txBody>
          <a:bodyPr wrap="square" rtlCol="0" anchor="ctr"/>
          <a:lstStyle/>
          <a:p>
            <a:pPr marL="0" indent="0">
              <a:lnSpc>
                <a:spcPts val="2000"/>
              </a:lnSpc>
              <a:buNone/>
            </a:pPr>
            <a:r>
              <a:rPr lang="en-US" sz="1400" dirty="0">
                <a:solidFill>
                  <a:srgbClr val="D7D9E4"/>
                </a:solidFill>
                <a:latin typeface="Calibri" pitchFamily="34" charset="0"/>
                <a:ea typeface="Calibri" pitchFamily="34" charset="-122"/>
                <a:cs typeface="Calibri" pitchFamily="34" charset="-120"/>
              </a:rPr>
              <a:t>A three-service classifieds marketplace — with real buyer↔seller</a:t>
            </a:r>
            <a:endParaRPr lang="en-US" sz="1400" dirty="0"/>
          </a:p>
          <a:p>
            <a:pPr marL="0" indent="0">
              <a:lnSpc>
                <a:spcPts val="2000"/>
              </a:lnSpc>
              <a:buNone/>
            </a:pPr>
            <a:r>
              <a:rPr lang="en-US" sz="1400" dirty="0">
                <a:solidFill>
                  <a:srgbClr val="D7D9E4"/>
                </a:solidFill>
                <a:latin typeface="Calibri" pitchFamily="34" charset="0"/>
                <a:ea typeface="Calibri" pitchFamily="34" charset="-122"/>
                <a:cs typeface="Calibri" pitchFamily="34" charset="-120"/>
              </a:rPr>
              <a:t>bargaining built into the chat, not bolted on after.</a:t>
            </a:r>
          </a:p>
          <a:p>
            <a:pPr marL="0" indent="0">
              <a:lnSpc>
                <a:spcPts val="2000"/>
              </a:lnSpc>
              <a:buNone/>
            </a:pPr>
            <a:endParaRPr lang="en-US" sz="1400" dirty="0">
              <a:solidFill>
                <a:srgbClr val="D7D9E4"/>
              </a:solidFill>
              <a:latin typeface="Calibri" pitchFamily="34" charset="0"/>
              <a:ea typeface="Calibri" pitchFamily="34" charset="-122"/>
              <a:cs typeface="Calibri" pitchFamily="34" charset="-120"/>
            </a:endParaRPr>
          </a:p>
          <a:p>
            <a:pPr marL="0" indent="0">
              <a:lnSpc>
                <a:spcPts val="2000"/>
              </a:lnSpc>
              <a:buNone/>
            </a:pPr>
            <a:r>
              <a:rPr lang="en-US" sz="1400" dirty="0">
                <a:solidFill>
                  <a:srgbClr val="D7D9E4"/>
                </a:solidFill>
                <a:latin typeface="Calibri" pitchFamily="34" charset="0"/>
                <a:ea typeface="Calibri" pitchFamily="34" charset="-122"/>
                <a:cs typeface="Calibri" pitchFamily="34" charset="-120"/>
              </a:rPr>
              <a:t>- DEVANSH PANDEY</a:t>
            </a:r>
            <a:endParaRPr lang="en-US" sz="1400" dirty="0"/>
          </a:p>
        </p:txBody>
      </p:sp>
      <p:sp>
        <p:nvSpPr>
          <p:cNvPr id="10" name="Text 7"/>
          <p:cNvSpPr/>
          <p:nvPr/>
        </p:nvSpPr>
        <p:spPr>
          <a:xfrm>
            <a:off x="822960" y="5989320"/>
            <a:ext cx="9601200" cy="365760"/>
          </a:xfrm>
          <a:prstGeom prst="rect">
            <a:avLst/>
          </a:prstGeom>
          <a:noFill/>
          <a:ln/>
        </p:spPr>
        <p:txBody>
          <a:bodyPr wrap="square" rtlCol="0" anchor="ctr"/>
          <a:lstStyle/>
          <a:p>
            <a:pPr marL="0" indent="0">
              <a:buNone/>
            </a:pPr>
            <a:r>
              <a:rPr lang="en-US" sz="1200" dirty="0">
                <a:solidFill>
                  <a:srgbClr val="9498B0"/>
                </a:solidFill>
                <a:latin typeface="Calibri" pitchFamily="34" charset="0"/>
                <a:ea typeface="Calibri" pitchFamily="34" charset="-122"/>
                <a:cs typeface="Calibri" pitchFamily="34" charset="-120"/>
              </a:rPr>
              <a:t>Microservices  ·  Docker  ·  Kubernetes  ·  Stripe  ·  AWS S3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FEATURE</a:t>
            </a:r>
            <a:endParaRPr lang="en-US" sz="1300" dirty="0"/>
          </a:p>
        </p:txBody>
      </p:sp>
      <p:sp>
        <p:nvSpPr>
          <p:cNvPr id="3" name="Text 1"/>
          <p:cNvSpPr/>
          <p:nvPr/>
        </p:nvSpPr>
        <p:spPr>
          <a:xfrm>
            <a:off x="640080" y="749808"/>
            <a:ext cx="777240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Dark mode &amp; everyday polish</a:t>
            </a:r>
            <a:endParaRPr lang="en-US" sz="3200" dirty="0"/>
          </a:p>
        </p:txBody>
      </p:sp>
      <p:sp>
        <p:nvSpPr>
          <p:cNvPr id="4" name="Shape 2"/>
          <p:cNvSpPr/>
          <p:nvPr/>
        </p:nvSpPr>
        <p:spPr>
          <a:xfrm>
            <a:off x="9692640" y="502920"/>
            <a:ext cx="1371600" cy="1371600"/>
          </a:xfrm>
          <a:prstGeom prst="ellipse">
            <a:avLst/>
          </a:prstGeom>
          <a:solidFill>
            <a:srgbClr val="1B1F3B"/>
          </a:solidFill>
          <a:ln/>
        </p:spPr>
      </p:sp>
      <p:pic>
        <p:nvPicPr>
          <p:cNvPr id="5" name="Image 0" descr="/home/claude/work/deck/icons/moon_coral.png"/>
          <p:cNvPicPr>
            <a:picLocks noChangeAspect="1"/>
          </p:cNvPicPr>
          <p:nvPr/>
        </p:nvPicPr>
        <p:blipFill>
          <a:blip r:embed="rId3"/>
          <a:stretch>
            <a:fillRect/>
          </a:stretch>
        </p:blipFill>
        <p:spPr>
          <a:xfrm>
            <a:off x="10058400" y="868680"/>
            <a:ext cx="640080" cy="640080"/>
          </a:xfrm>
          <a:prstGeom prst="rect">
            <a:avLst/>
          </a:prstGeom>
        </p:spPr>
      </p:pic>
      <p:sp>
        <p:nvSpPr>
          <p:cNvPr id="6" name="Shape 3"/>
          <p:cNvSpPr/>
          <p:nvPr/>
        </p:nvSpPr>
        <p:spPr>
          <a:xfrm>
            <a:off x="640080" y="2103120"/>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7" name="Shape 4"/>
          <p:cNvSpPr/>
          <p:nvPr/>
        </p:nvSpPr>
        <p:spPr>
          <a:xfrm>
            <a:off x="868680" y="2322576"/>
            <a:ext cx="402336" cy="402336"/>
          </a:xfrm>
          <a:prstGeom prst="ellipse">
            <a:avLst/>
          </a:prstGeom>
          <a:solidFill>
            <a:srgbClr val="F4C95D"/>
          </a:solidFill>
          <a:ln/>
        </p:spPr>
      </p:sp>
      <p:sp>
        <p:nvSpPr>
          <p:cNvPr id="8" name="Text 5"/>
          <p:cNvSpPr/>
          <p:nvPr/>
        </p:nvSpPr>
        <p:spPr>
          <a:xfrm>
            <a:off x="868680" y="2322576"/>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508760" y="2176272"/>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One-tap theme toggle —  </a:t>
            </a:r>
            <a:r>
              <a:rPr lang="en-US" sz="1200" dirty="0">
                <a:solidFill>
                  <a:srgbClr val="6B7280"/>
                </a:solidFill>
                <a:latin typeface="Calibri" pitchFamily="34" charset="0"/>
                <a:ea typeface="Calibri" pitchFamily="34" charset="-122"/>
                <a:cs typeface="Calibri" pitchFamily="34" charset="-120"/>
              </a:rPr>
              <a:t>a sun/moon switch in the header swaps the entire palette via CSS, no page reload.</a:t>
            </a:r>
            <a:endParaRPr lang="en-US" sz="1200" dirty="0"/>
          </a:p>
        </p:txBody>
      </p:sp>
      <p:sp>
        <p:nvSpPr>
          <p:cNvPr id="10" name="Shape 7"/>
          <p:cNvSpPr/>
          <p:nvPr/>
        </p:nvSpPr>
        <p:spPr>
          <a:xfrm>
            <a:off x="640080" y="3090672"/>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1" name="Shape 8"/>
          <p:cNvSpPr/>
          <p:nvPr/>
        </p:nvSpPr>
        <p:spPr>
          <a:xfrm>
            <a:off x="868680" y="3310128"/>
            <a:ext cx="402336" cy="402336"/>
          </a:xfrm>
          <a:prstGeom prst="ellipse">
            <a:avLst/>
          </a:prstGeom>
          <a:solidFill>
            <a:srgbClr val="F4C95D"/>
          </a:solidFill>
          <a:ln/>
        </p:spPr>
      </p:sp>
      <p:sp>
        <p:nvSpPr>
          <p:cNvPr id="12" name="Text 9"/>
          <p:cNvSpPr/>
          <p:nvPr/>
        </p:nvSpPr>
        <p:spPr>
          <a:xfrm>
            <a:off x="868680" y="3310128"/>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1508760" y="3163824"/>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Toast notifications —  </a:t>
            </a:r>
            <a:r>
              <a:rPr lang="en-US" sz="1200" dirty="0">
                <a:solidFill>
                  <a:srgbClr val="6B7280"/>
                </a:solidFill>
                <a:latin typeface="Calibri" pitchFamily="34" charset="0"/>
                <a:ea typeface="Calibri" pitchFamily="34" charset="-122"/>
                <a:cs typeface="Calibri" pitchFamily="34" charset="-120"/>
              </a:rPr>
              <a:t>lightweight confirmations for actions like switching roles, saving a listing, or sending an offer.</a:t>
            </a:r>
            <a:endParaRPr lang="en-US" sz="1200" dirty="0"/>
          </a:p>
        </p:txBody>
      </p:sp>
      <p:sp>
        <p:nvSpPr>
          <p:cNvPr id="14" name="Shape 11"/>
          <p:cNvSpPr/>
          <p:nvPr/>
        </p:nvSpPr>
        <p:spPr>
          <a:xfrm>
            <a:off x="640080" y="4078224"/>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5" name="Shape 12"/>
          <p:cNvSpPr/>
          <p:nvPr/>
        </p:nvSpPr>
        <p:spPr>
          <a:xfrm>
            <a:off x="868680" y="4297680"/>
            <a:ext cx="402336" cy="402336"/>
          </a:xfrm>
          <a:prstGeom prst="ellipse">
            <a:avLst/>
          </a:prstGeom>
          <a:solidFill>
            <a:srgbClr val="F4C95D"/>
          </a:solidFill>
          <a:ln/>
        </p:spPr>
      </p:sp>
      <p:sp>
        <p:nvSpPr>
          <p:cNvPr id="16" name="Text 13"/>
          <p:cNvSpPr/>
          <p:nvPr/>
        </p:nvSpPr>
        <p:spPr>
          <a:xfrm>
            <a:off x="868680" y="4297680"/>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508760" y="4151376"/>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No-framework frontend —  </a:t>
            </a:r>
            <a:r>
              <a:rPr lang="en-US" sz="1200" dirty="0">
                <a:solidFill>
                  <a:srgbClr val="6B7280"/>
                </a:solidFill>
                <a:latin typeface="Calibri" pitchFamily="34" charset="0"/>
                <a:ea typeface="Calibri" pitchFamily="34" charset="-122"/>
                <a:cs typeface="Calibri" pitchFamily="34" charset="-120"/>
              </a:rPr>
              <a:t>plain HTML/CSS/JS with hash-based routing keeps the whole UI dependency-free and fast to load.</a:t>
            </a:r>
            <a:endParaRPr lang="en-US" sz="1200" dirty="0"/>
          </a:p>
        </p:txBody>
      </p:sp>
      <p:sp>
        <p:nvSpPr>
          <p:cNvPr id="18" name="Text 15"/>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THE IDEA</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Classifieds apps let you list.</a:t>
            </a:r>
            <a:endParaRPr lang="en-US" sz="3200" dirty="0"/>
          </a:p>
          <a:p>
            <a:pPr marL="0" indent="0">
              <a:buNone/>
            </a:pPr>
            <a:r>
              <a:rPr lang="en-US" sz="3200" b="1" dirty="0">
                <a:solidFill>
                  <a:srgbClr val="22262F"/>
                </a:solidFill>
                <a:latin typeface="Cambria" pitchFamily="34" charset="0"/>
                <a:ea typeface="Cambria" pitchFamily="34" charset="-122"/>
                <a:cs typeface="Cambria" pitchFamily="34" charset="-120"/>
              </a:rPr>
              <a:t>Few let you actually haggle.</a:t>
            </a:r>
            <a:endParaRPr lang="en-US" sz="3200" dirty="0"/>
          </a:p>
        </p:txBody>
      </p:sp>
      <p:sp>
        <p:nvSpPr>
          <p:cNvPr id="4" name="Shape 2"/>
          <p:cNvSpPr/>
          <p:nvPr/>
        </p:nvSpPr>
        <p:spPr>
          <a:xfrm>
            <a:off x="640080" y="2651760"/>
            <a:ext cx="3383280" cy="3017520"/>
          </a:xfrm>
          <a:prstGeom prst="roundRect">
            <a:avLst>
              <a:gd name="adj" fmla="val 3636"/>
            </a:avLst>
          </a:prstGeom>
          <a:solidFill>
            <a:srgbClr val="FFFFFF"/>
          </a:solidFill>
          <a:ln/>
          <a:effectLst>
            <a:outerShdw blurRad="127000" dist="38100" dir="5400000" algn="bl" rotWithShape="0">
              <a:srgbClr val="000000">
                <a:alpha val="12000"/>
              </a:srgbClr>
            </a:outerShdw>
          </a:effectLst>
        </p:spPr>
      </p:sp>
      <p:sp>
        <p:nvSpPr>
          <p:cNvPr id="5" name="Shape 3"/>
          <p:cNvSpPr/>
          <p:nvPr/>
        </p:nvSpPr>
        <p:spPr>
          <a:xfrm>
            <a:off x="960120" y="2971800"/>
            <a:ext cx="685800" cy="685800"/>
          </a:xfrm>
          <a:prstGeom prst="ellipse">
            <a:avLst/>
          </a:prstGeom>
          <a:solidFill>
            <a:srgbClr val="1B1F3B"/>
          </a:solidFill>
          <a:ln/>
        </p:spPr>
      </p:sp>
      <p:pic>
        <p:nvPicPr>
          <p:cNvPr id="6" name="Image 0" descr="/home/claude/work/deck/icons/tags_coral.png"/>
          <p:cNvPicPr>
            <a:picLocks noChangeAspect="1"/>
          </p:cNvPicPr>
          <p:nvPr/>
        </p:nvPicPr>
        <p:blipFill>
          <a:blip r:embed="rId3"/>
          <a:stretch>
            <a:fillRect/>
          </a:stretch>
        </p:blipFill>
        <p:spPr>
          <a:xfrm>
            <a:off x="1124712" y="3136392"/>
            <a:ext cx="365760" cy="365760"/>
          </a:xfrm>
          <a:prstGeom prst="rect">
            <a:avLst/>
          </a:prstGeom>
        </p:spPr>
      </p:pic>
      <p:sp>
        <p:nvSpPr>
          <p:cNvPr id="7" name="Text 4"/>
          <p:cNvSpPr/>
          <p:nvPr/>
        </p:nvSpPr>
        <p:spPr>
          <a:xfrm>
            <a:off x="960120" y="3840480"/>
            <a:ext cx="2743200" cy="457200"/>
          </a:xfrm>
          <a:prstGeom prst="rect">
            <a:avLst/>
          </a:prstGeom>
          <a:noFill/>
          <a:ln/>
        </p:spPr>
        <p:txBody>
          <a:bodyPr wrap="square" lIns="0" tIns="0" rIns="0" bIns="0" rtlCol="0" anchor="ctr"/>
          <a:lstStyle/>
          <a:p>
            <a:pPr marL="0" indent="0">
              <a:buNone/>
            </a:pPr>
            <a:r>
              <a:rPr lang="en-US" sz="1700" b="1" dirty="0">
                <a:solidFill>
                  <a:srgbClr val="22262F"/>
                </a:solidFill>
                <a:latin typeface="Cambria" pitchFamily="34" charset="0"/>
                <a:ea typeface="Cambria" pitchFamily="34" charset="-122"/>
                <a:cs typeface="Cambria" pitchFamily="34" charset="-120"/>
              </a:rPr>
              <a:t>List anything</a:t>
            </a:r>
            <a:endParaRPr lang="en-US" sz="1700" dirty="0"/>
          </a:p>
        </p:txBody>
      </p:sp>
      <p:sp>
        <p:nvSpPr>
          <p:cNvPr id="8" name="Text 5"/>
          <p:cNvSpPr/>
          <p:nvPr/>
        </p:nvSpPr>
        <p:spPr>
          <a:xfrm>
            <a:off x="960120" y="4343400"/>
            <a:ext cx="2743200" cy="109728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Post a classified ad with photos, category, price and location in seconds.</a:t>
            </a:r>
            <a:endParaRPr lang="en-US" sz="1250" dirty="0"/>
          </a:p>
        </p:txBody>
      </p:sp>
      <p:sp>
        <p:nvSpPr>
          <p:cNvPr id="9" name="Shape 6"/>
          <p:cNvSpPr/>
          <p:nvPr/>
        </p:nvSpPr>
        <p:spPr>
          <a:xfrm>
            <a:off x="4343400" y="2651760"/>
            <a:ext cx="3383280" cy="3017520"/>
          </a:xfrm>
          <a:prstGeom prst="roundRect">
            <a:avLst>
              <a:gd name="adj" fmla="val 3636"/>
            </a:avLst>
          </a:prstGeom>
          <a:solidFill>
            <a:srgbClr val="FFFFFF"/>
          </a:solidFill>
          <a:ln/>
          <a:effectLst>
            <a:outerShdw blurRad="127000" dist="38100" dir="5400000" algn="bl" rotWithShape="0">
              <a:srgbClr val="000000">
                <a:alpha val="12000"/>
              </a:srgbClr>
            </a:outerShdw>
          </a:effectLst>
        </p:spPr>
      </p:sp>
      <p:sp>
        <p:nvSpPr>
          <p:cNvPr id="10" name="Shape 7"/>
          <p:cNvSpPr/>
          <p:nvPr/>
        </p:nvSpPr>
        <p:spPr>
          <a:xfrm>
            <a:off x="4663440" y="2971800"/>
            <a:ext cx="685800" cy="685800"/>
          </a:xfrm>
          <a:prstGeom prst="ellipse">
            <a:avLst/>
          </a:prstGeom>
          <a:solidFill>
            <a:srgbClr val="1B1F3B"/>
          </a:solidFill>
          <a:ln/>
        </p:spPr>
      </p:sp>
      <p:pic>
        <p:nvPicPr>
          <p:cNvPr id="11" name="Image 1" descr="/home/claude/work/deck/icons/handshake_coral.png"/>
          <p:cNvPicPr>
            <a:picLocks noChangeAspect="1"/>
          </p:cNvPicPr>
          <p:nvPr/>
        </p:nvPicPr>
        <p:blipFill>
          <a:blip r:embed="rId4"/>
          <a:stretch>
            <a:fillRect/>
          </a:stretch>
        </p:blipFill>
        <p:spPr>
          <a:xfrm>
            <a:off x="4828032" y="3136392"/>
            <a:ext cx="365760" cy="365760"/>
          </a:xfrm>
          <a:prstGeom prst="rect">
            <a:avLst/>
          </a:prstGeom>
        </p:spPr>
      </p:pic>
      <p:sp>
        <p:nvSpPr>
          <p:cNvPr id="12" name="Text 8"/>
          <p:cNvSpPr/>
          <p:nvPr/>
        </p:nvSpPr>
        <p:spPr>
          <a:xfrm>
            <a:off x="4663440" y="3840480"/>
            <a:ext cx="2743200" cy="457200"/>
          </a:xfrm>
          <a:prstGeom prst="rect">
            <a:avLst/>
          </a:prstGeom>
          <a:noFill/>
          <a:ln/>
        </p:spPr>
        <p:txBody>
          <a:bodyPr wrap="square" lIns="0" tIns="0" rIns="0" bIns="0" rtlCol="0" anchor="ctr"/>
          <a:lstStyle/>
          <a:p>
            <a:pPr marL="0" indent="0">
              <a:buNone/>
            </a:pPr>
            <a:r>
              <a:rPr lang="en-US" sz="1700" b="1" dirty="0">
                <a:solidFill>
                  <a:srgbClr val="22262F"/>
                </a:solidFill>
                <a:latin typeface="Cambria" pitchFamily="34" charset="0"/>
                <a:ea typeface="Cambria" pitchFamily="34" charset="-122"/>
                <a:cs typeface="Cambria" pitchFamily="34" charset="-120"/>
              </a:rPr>
              <a:t>Negotiate in-chat</a:t>
            </a:r>
            <a:endParaRPr lang="en-US" sz="1700" dirty="0"/>
          </a:p>
        </p:txBody>
      </p:sp>
      <p:sp>
        <p:nvSpPr>
          <p:cNvPr id="13" name="Text 9"/>
          <p:cNvSpPr/>
          <p:nvPr/>
        </p:nvSpPr>
        <p:spPr>
          <a:xfrm>
            <a:off x="4663440" y="4343400"/>
            <a:ext cx="2743200" cy="109728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Buyers send a real offer inside the conversation — the seller accepts or rejects it, right there.</a:t>
            </a:r>
            <a:endParaRPr lang="en-US" sz="1250" dirty="0"/>
          </a:p>
        </p:txBody>
      </p:sp>
      <p:sp>
        <p:nvSpPr>
          <p:cNvPr id="14" name="Shape 10"/>
          <p:cNvSpPr/>
          <p:nvPr/>
        </p:nvSpPr>
        <p:spPr>
          <a:xfrm>
            <a:off x="8046720" y="2651760"/>
            <a:ext cx="3383280" cy="3017520"/>
          </a:xfrm>
          <a:prstGeom prst="roundRect">
            <a:avLst>
              <a:gd name="adj" fmla="val 3636"/>
            </a:avLst>
          </a:prstGeom>
          <a:solidFill>
            <a:srgbClr val="FFFFFF"/>
          </a:solidFill>
          <a:ln/>
          <a:effectLst>
            <a:outerShdw blurRad="127000" dist="38100" dir="5400000" algn="bl" rotWithShape="0">
              <a:srgbClr val="000000">
                <a:alpha val="12000"/>
              </a:srgbClr>
            </a:outerShdw>
          </a:effectLst>
        </p:spPr>
      </p:sp>
      <p:sp>
        <p:nvSpPr>
          <p:cNvPr id="15" name="Shape 11"/>
          <p:cNvSpPr/>
          <p:nvPr/>
        </p:nvSpPr>
        <p:spPr>
          <a:xfrm>
            <a:off x="8366760" y="2971800"/>
            <a:ext cx="685800" cy="685800"/>
          </a:xfrm>
          <a:prstGeom prst="ellipse">
            <a:avLst/>
          </a:prstGeom>
          <a:solidFill>
            <a:srgbClr val="1B1F3B"/>
          </a:solidFill>
          <a:ln/>
        </p:spPr>
      </p:sp>
      <p:pic>
        <p:nvPicPr>
          <p:cNvPr id="16" name="Image 2" descr="/home/claude/work/deck/icons/card_coral.png"/>
          <p:cNvPicPr>
            <a:picLocks noChangeAspect="1"/>
          </p:cNvPicPr>
          <p:nvPr/>
        </p:nvPicPr>
        <p:blipFill>
          <a:blip r:embed="rId5"/>
          <a:stretch>
            <a:fillRect/>
          </a:stretch>
        </p:blipFill>
        <p:spPr>
          <a:xfrm>
            <a:off x="8531352" y="3136392"/>
            <a:ext cx="365760" cy="365760"/>
          </a:xfrm>
          <a:prstGeom prst="rect">
            <a:avLst/>
          </a:prstGeom>
        </p:spPr>
      </p:pic>
      <p:sp>
        <p:nvSpPr>
          <p:cNvPr id="17" name="Text 12"/>
          <p:cNvSpPr/>
          <p:nvPr/>
        </p:nvSpPr>
        <p:spPr>
          <a:xfrm>
            <a:off x="8366760" y="3840480"/>
            <a:ext cx="2743200" cy="457200"/>
          </a:xfrm>
          <a:prstGeom prst="rect">
            <a:avLst/>
          </a:prstGeom>
          <a:noFill/>
          <a:ln/>
        </p:spPr>
        <p:txBody>
          <a:bodyPr wrap="square" lIns="0" tIns="0" rIns="0" bIns="0" rtlCol="0" anchor="ctr"/>
          <a:lstStyle/>
          <a:p>
            <a:pPr marL="0" indent="0">
              <a:buNone/>
            </a:pPr>
            <a:r>
              <a:rPr lang="en-US" sz="1700" b="1" dirty="0">
                <a:solidFill>
                  <a:srgbClr val="22262F"/>
                </a:solidFill>
                <a:latin typeface="Cambria" pitchFamily="34" charset="0"/>
                <a:ea typeface="Cambria" pitchFamily="34" charset="-122"/>
                <a:cs typeface="Cambria" pitchFamily="34" charset="-120"/>
              </a:rPr>
              <a:t>Pay the agreed price</a:t>
            </a:r>
            <a:endParaRPr lang="en-US" sz="1700" dirty="0"/>
          </a:p>
        </p:txBody>
      </p:sp>
      <p:sp>
        <p:nvSpPr>
          <p:cNvPr id="18" name="Text 13"/>
          <p:cNvSpPr/>
          <p:nvPr/>
        </p:nvSpPr>
        <p:spPr>
          <a:xfrm>
            <a:off x="8366760" y="4343400"/>
            <a:ext cx="2743200" cy="1097280"/>
          </a:xfrm>
          <a:prstGeom prst="rect">
            <a:avLst/>
          </a:prstGeom>
          <a:noFill/>
          <a:ln/>
        </p:spPr>
        <p:txBody>
          <a:bodyPr wrap="square" lIns="0" tIns="0" rIns="0" bIns="0" rtlCol="0" anchor="ctr"/>
          <a:lstStyle/>
          <a:p>
            <a:pPr marL="0" indent="0">
              <a:lnSpc>
                <a:spcPts val="1700"/>
              </a:lnSpc>
              <a:buNone/>
            </a:pPr>
            <a:r>
              <a:rPr lang="en-US" sz="1250" dirty="0">
                <a:solidFill>
                  <a:srgbClr val="6B7280"/>
                </a:solidFill>
                <a:latin typeface="Calibri" pitchFamily="34" charset="0"/>
                <a:ea typeface="Calibri" pitchFamily="34" charset="-122"/>
                <a:cs typeface="Calibri" pitchFamily="34" charset="-120"/>
              </a:rPr>
              <a:t>Checkout charges whatever price was actually negotiated for that buyer — not the sticker price.</a:t>
            </a:r>
            <a:endParaRPr lang="en-US" sz="1250" dirty="0"/>
          </a:p>
        </p:txBody>
      </p:sp>
      <p:sp>
        <p:nvSpPr>
          <p:cNvPr id="19" name="Text 14"/>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Three independent services, three jobs</a:t>
            </a:r>
            <a:endParaRPr lang="en-US" sz="3200" dirty="0"/>
          </a:p>
        </p:txBody>
      </p:sp>
      <p:sp>
        <p:nvSpPr>
          <p:cNvPr id="4" name="Shape 2"/>
          <p:cNvSpPr/>
          <p:nvPr/>
        </p:nvSpPr>
        <p:spPr>
          <a:xfrm>
            <a:off x="640080" y="2331720"/>
            <a:ext cx="3063240" cy="1737360"/>
          </a:xfrm>
          <a:prstGeom prst="roundRect">
            <a:avLst>
              <a:gd name="adj" fmla="val 5263"/>
            </a:avLst>
          </a:prstGeom>
          <a:solidFill>
            <a:srgbClr val="1B1F3B"/>
          </a:solidFill>
          <a:ln/>
        </p:spPr>
      </p:sp>
      <p:pic>
        <p:nvPicPr>
          <p:cNvPr id="5" name="Image 0" descr="/home/claude/work/deck/icons/lock_gold.png"/>
          <p:cNvPicPr>
            <a:picLocks noChangeAspect="1"/>
          </p:cNvPicPr>
          <p:nvPr/>
        </p:nvPicPr>
        <p:blipFill>
          <a:blip r:embed="rId3"/>
          <a:stretch>
            <a:fillRect/>
          </a:stretch>
        </p:blipFill>
        <p:spPr>
          <a:xfrm>
            <a:off x="896112" y="2560320"/>
            <a:ext cx="365760" cy="365760"/>
          </a:xfrm>
          <a:prstGeom prst="rect">
            <a:avLst/>
          </a:prstGeom>
        </p:spPr>
      </p:pic>
      <p:sp>
        <p:nvSpPr>
          <p:cNvPr id="6" name="Text 3"/>
          <p:cNvSpPr/>
          <p:nvPr/>
        </p:nvSpPr>
        <p:spPr>
          <a:xfrm>
            <a:off x="896112" y="2990088"/>
            <a:ext cx="26060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user-service</a:t>
            </a:r>
            <a:endParaRPr lang="en-US" sz="1600" dirty="0"/>
          </a:p>
        </p:txBody>
      </p:sp>
      <p:sp>
        <p:nvSpPr>
          <p:cNvPr id="7" name="Text 4"/>
          <p:cNvSpPr/>
          <p:nvPr/>
        </p:nvSpPr>
        <p:spPr>
          <a:xfrm>
            <a:off x="896112" y="3319272"/>
            <a:ext cx="2606040" cy="274320"/>
          </a:xfrm>
          <a:prstGeom prst="rect">
            <a:avLst/>
          </a:prstGeom>
          <a:noFill/>
          <a:ln/>
        </p:spPr>
        <p:txBody>
          <a:bodyPr wrap="square" lIns="0" tIns="0" rIns="0" bIns="0" rtlCol="0" anchor="ctr"/>
          <a:lstStyle/>
          <a:p>
            <a:pPr marL="0" indent="0">
              <a:buNone/>
            </a:pPr>
            <a:r>
              <a:rPr lang="en-US" sz="1050" dirty="0">
                <a:solidFill>
                  <a:srgbClr val="F4C95D"/>
                </a:solidFill>
                <a:latin typeface="Calibri" pitchFamily="34" charset="0"/>
                <a:ea typeface="Calibri" pitchFamily="34" charset="-122"/>
                <a:cs typeface="Calibri" pitchFamily="34" charset="-120"/>
              </a:rPr>
              <a:t>port 3001</a:t>
            </a:r>
            <a:endParaRPr lang="en-US" sz="1050" dirty="0"/>
          </a:p>
        </p:txBody>
      </p:sp>
      <p:sp>
        <p:nvSpPr>
          <p:cNvPr id="8" name="Text 5"/>
          <p:cNvSpPr/>
          <p:nvPr/>
        </p:nvSpPr>
        <p:spPr>
          <a:xfrm>
            <a:off x="896112" y="3593592"/>
            <a:ext cx="2560320" cy="457200"/>
          </a:xfrm>
          <a:prstGeom prst="rect">
            <a:avLst/>
          </a:prstGeom>
          <a:noFill/>
          <a:ln/>
        </p:spPr>
        <p:txBody>
          <a:bodyPr wrap="square" lIns="0" tIns="0" rIns="0" bIns="0" rtlCol="0" anchor="ctr"/>
          <a:lstStyle/>
          <a:p>
            <a:pPr marL="0" indent="0">
              <a:lnSpc>
                <a:spcPts val="1200"/>
              </a:lnSpc>
              <a:buNone/>
            </a:pPr>
            <a:r>
              <a:rPr lang="en-US" sz="1000" dirty="0">
                <a:solidFill>
                  <a:srgbClr val="C7CADF"/>
                </a:solidFill>
                <a:latin typeface="Calibri" pitchFamily="34" charset="0"/>
                <a:ea typeface="Calibri" pitchFamily="34" charset="-122"/>
                <a:cs typeface="Calibri" pitchFamily="34" charset="-120"/>
              </a:rPr>
              <a:t>Register, login, JWT auth, profile</a:t>
            </a:r>
            <a:endParaRPr lang="en-US" sz="1000" dirty="0"/>
          </a:p>
        </p:txBody>
      </p:sp>
      <p:sp>
        <p:nvSpPr>
          <p:cNvPr id="9" name="Shape 6"/>
          <p:cNvSpPr/>
          <p:nvPr/>
        </p:nvSpPr>
        <p:spPr>
          <a:xfrm>
            <a:off x="4114800" y="2331720"/>
            <a:ext cx="3063240" cy="1737360"/>
          </a:xfrm>
          <a:prstGeom prst="roundRect">
            <a:avLst>
              <a:gd name="adj" fmla="val 5263"/>
            </a:avLst>
          </a:prstGeom>
          <a:solidFill>
            <a:srgbClr val="1B1F3B"/>
          </a:solidFill>
          <a:ln/>
        </p:spPr>
      </p:sp>
      <p:pic>
        <p:nvPicPr>
          <p:cNvPr id="10" name="Image 1" descr="/home/claude/work/deck/icons/tags_gold.png"/>
          <p:cNvPicPr>
            <a:picLocks noChangeAspect="1"/>
          </p:cNvPicPr>
          <p:nvPr/>
        </p:nvPicPr>
        <p:blipFill>
          <a:blip r:embed="rId4"/>
          <a:stretch>
            <a:fillRect/>
          </a:stretch>
        </p:blipFill>
        <p:spPr>
          <a:xfrm>
            <a:off x="4370832" y="2560320"/>
            <a:ext cx="365760" cy="365760"/>
          </a:xfrm>
          <a:prstGeom prst="rect">
            <a:avLst/>
          </a:prstGeom>
        </p:spPr>
      </p:pic>
      <p:sp>
        <p:nvSpPr>
          <p:cNvPr id="11" name="Text 7"/>
          <p:cNvSpPr/>
          <p:nvPr/>
        </p:nvSpPr>
        <p:spPr>
          <a:xfrm>
            <a:off x="4370832" y="2990088"/>
            <a:ext cx="26060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listing-service</a:t>
            </a:r>
            <a:endParaRPr lang="en-US" sz="1600" dirty="0"/>
          </a:p>
        </p:txBody>
      </p:sp>
      <p:sp>
        <p:nvSpPr>
          <p:cNvPr id="12" name="Text 8"/>
          <p:cNvSpPr/>
          <p:nvPr/>
        </p:nvSpPr>
        <p:spPr>
          <a:xfrm>
            <a:off x="4370832" y="3319272"/>
            <a:ext cx="2606040" cy="274320"/>
          </a:xfrm>
          <a:prstGeom prst="rect">
            <a:avLst/>
          </a:prstGeom>
          <a:noFill/>
          <a:ln/>
        </p:spPr>
        <p:txBody>
          <a:bodyPr wrap="square" lIns="0" tIns="0" rIns="0" bIns="0" rtlCol="0" anchor="ctr"/>
          <a:lstStyle/>
          <a:p>
            <a:pPr marL="0" indent="0">
              <a:buNone/>
            </a:pPr>
            <a:r>
              <a:rPr lang="en-US" sz="1050" dirty="0">
                <a:solidFill>
                  <a:srgbClr val="F4C95D"/>
                </a:solidFill>
                <a:latin typeface="Calibri" pitchFamily="34" charset="0"/>
                <a:ea typeface="Calibri" pitchFamily="34" charset="-122"/>
                <a:cs typeface="Calibri" pitchFamily="34" charset="-120"/>
              </a:rPr>
              <a:t>port 3002</a:t>
            </a:r>
            <a:endParaRPr lang="en-US" sz="1050" dirty="0"/>
          </a:p>
        </p:txBody>
      </p:sp>
      <p:sp>
        <p:nvSpPr>
          <p:cNvPr id="13" name="Text 9"/>
          <p:cNvSpPr/>
          <p:nvPr/>
        </p:nvSpPr>
        <p:spPr>
          <a:xfrm>
            <a:off x="4370832" y="3593592"/>
            <a:ext cx="2560320" cy="457200"/>
          </a:xfrm>
          <a:prstGeom prst="rect">
            <a:avLst/>
          </a:prstGeom>
          <a:noFill/>
          <a:ln/>
        </p:spPr>
        <p:txBody>
          <a:bodyPr wrap="square" lIns="0" tIns="0" rIns="0" bIns="0" rtlCol="0" anchor="ctr"/>
          <a:lstStyle/>
          <a:p>
            <a:pPr marL="0" indent="0">
              <a:lnSpc>
                <a:spcPts val="1200"/>
              </a:lnSpc>
              <a:buNone/>
            </a:pPr>
            <a:r>
              <a:rPr lang="en-US" sz="1000" dirty="0">
                <a:solidFill>
                  <a:srgbClr val="C7CADF"/>
                </a:solidFill>
                <a:latin typeface="Calibri" pitchFamily="34" charset="0"/>
                <a:ea typeface="Calibri" pitchFamily="34" charset="-122"/>
                <a:cs typeface="Calibri" pitchFamily="34" charset="-120"/>
              </a:rPr>
              <a:t>Post / search ads, photo upload, checkout</a:t>
            </a:r>
            <a:endParaRPr lang="en-US" sz="1000" dirty="0"/>
          </a:p>
        </p:txBody>
      </p:sp>
      <p:sp>
        <p:nvSpPr>
          <p:cNvPr id="14" name="Shape 10"/>
          <p:cNvSpPr/>
          <p:nvPr/>
        </p:nvSpPr>
        <p:spPr>
          <a:xfrm>
            <a:off x="7589520" y="2331720"/>
            <a:ext cx="3063240" cy="1737360"/>
          </a:xfrm>
          <a:prstGeom prst="roundRect">
            <a:avLst>
              <a:gd name="adj" fmla="val 5263"/>
            </a:avLst>
          </a:prstGeom>
          <a:solidFill>
            <a:srgbClr val="1B1F3B"/>
          </a:solidFill>
          <a:ln/>
        </p:spPr>
      </p:sp>
      <p:pic>
        <p:nvPicPr>
          <p:cNvPr id="15" name="Image 2" descr="/home/claude/work/deck/icons/comments_gold.png"/>
          <p:cNvPicPr>
            <a:picLocks noChangeAspect="1"/>
          </p:cNvPicPr>
          <p:nvPr/>
        </p:nvPicPr>
        <p:blipFill>
          <a:blip r:embed="rId5"/>
          <a:stretch>
            <a:fillRect/>
          </a:stretch>
        </p:blipFill>
        <p:spPr>
          <a:xfrm>
            <a:off x="7845552" y="2560320"/>
            <a:ext cx="365760" cy="365760"/>
          </a:xfrm>
          <a:prstGeom prst="rect">
            <a:avLst/>
          </a:prstGeom>
        </p:spPr>
      </p:pic>
      <p:sp>
        <p:nvSpPr>
          <p:cNvPr id="16" name="Text 11"/>
          <p:cNvSpPr/>
          <p:nvPr/>
        </p:nvSpPr>
        <p:spPr>
          <a:xfrm>
            <a:off x="7845552" y="2990088"/>
            <a:ext cx="26060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chat-service</a:t>
            </a:r>
            <a:endParaRPr lang="en-US" sz="1600" dirty="0"/>
          </a:p>
        </p:txBody>
      </p:sp>
      <p:sp>
        <p:nvSpPr>
          <p:cNvPr id="17" name="Text 12"/>
          <p:cNvSpPr/>
          <p:nvPr/>
        </p:nvSpPr>
        <p:spPr>
          <a:xfrm>
            <a:off x="7845552" y="3319272"/>
            <a:ext cx="2606040" cy="274320"/>
          </a:xfrm>
          <a:prstGeom prst="rect">
            <a:avLst/>
          </a:prstGeom>
          <a:noFill/>
          <a:ln/>
        </p:spPr>
        <p:txBody>
          <a:bodyPr wrap="square" lIns="0" tIns="0" rIns="0" bIns="0" rtlCol="0" anchor="ctr"/>
          <a:lstStyle/>
          <a:p>
            <a:pPr marL="0" indent="0">
              <a:buNone/>
            </a:pPr>
            <a:r>
              <a:rPr lang="en-US" sz="1050" dirty="0">
                <a:solidFill>
                  <a:srgbClr val="F4C95D"/>
                </a:solidFill>
                <a:latin typeface="Calibri" pitchFamily="34" charset="0"/>
                <a:ea typeface="Calibri" pitchFamily="34" charset="-122"/>
                <a:cs typeface="Calibri" pitchFamily="34" charset="-120"/>
              </a:rPr>
              <a:t>port 3003</a:t>
            </a:r>
            <a:endParaRPr lang="en-US" sz="1050" dirty="0"/>
          </a:p>
        </p:txBody>
      </p:sp>
      <p:sp>
        <p:nvSpPr>
          <p:cNvPr id="18" name="Text 13"/>
          <p:cNvSpPr/>
          <p:nvPr/>
        </p:nvSpPr>
        <p:spPr>
          <a:xfrm>
            <a:off x="7845552" y="3593592"/>
            <a:ext cx="2560320" cy="457200"/>
          </a:xfrm>
          <a:prstGeom prst="rect">
            <a:avLst/>
          </a:prstGeom>
          <a:noFill/>
          <a:ln/>
        </p:spPr>
        <p:txBody>
          <a:bodyPr wrap="square" lIns="0" tIns="0" rIns="0" bIns="0" rtlCol="0" anchor="ctr"/>
          <a:lstStyle/>
          <a:p>
            <a:pPr marL="0" indent="0">
              <a:lnSpc>
                <a:spcPts val="1200"/>
              </a:lnSpc>
              <a:buNone/>
            </a:pPr>
            <a:r>
              <a:rPr lang="en-US" sz="1000" dirty="0">
                <a:solidFill>
                  <a:srgbClr val="C7CADF"/>
                </a:solidFill>
                <a:latin typeface="Calibri" pitchFamily="34" charset="0"/>
                <a:ea typeface="Calibri" pitchFamily="34" charset="-122"/>
                <a:cs typeface="Calibri" pitchFamily="34" charset="-120"/>
              </a:rPr>
              <a:t>Buyer ↔ seller messaging + offers</a:t>
            </a:r>
            <a:endParaRPr lang="en-US" sz="1000" dirty="0"/>
          </a:p>
        </p:txBody>
      </p:sp>
      <p:sp>
        <p:nvSpPr>
          <p:cNvPr id="19" name="Shape 14"/>
          <p:cNvSpPr/>
          <p:nvPr/>
        </p:nvSpPr>
        <p:spPr>
          <a:xfrm>
            <a:off x="640080" y="4480560"/>
            <a:ext cx="3063240" cy="502920"/>
          </a:xfrm>
          <a:prstGeom prst="roundRect">
            <a:avLst>
              <a:gd name="adj" fmla="val 14545"/>
            </a:avLst>
          </a:prstGeom>
          <a:solidFill>
            <a:srgbClr val="FFFFFF"/>
          </a:solidFill>
          <a:ln w="12700">
            <a:solidFill>
              <a:srgbClr val="E7E7EE"/>
            </a:solidFill>
            <a:prstDash val="solid"/>
          </a:ln>
        </p:spPr>
      </p:sp>
      <p:sp>
        <p:nvSpPr>
          <p:cNvPr id="20" name="Text 15"/>
          <p:cNvSpPr/>
          <p:nvPr/>
        </p:nvSpPr>
        <p:spPr>
          <a:xfrm>
            <a:off x="640080" y="4480560"/>
            <a:ext cx="3063240" cy="50292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PostgreSQL · users_db</a:t>
            </a:r>
            <a:endParaRPr lang="en-US" sz="1050" dirty="0"/>
          </a:p>
        </p:txBody>
      </p:sp>
      <p:sp>
        <p:nvSpPr>
          <p:cNvPr id="21" name="Shape 16"/>
          <p:cNvSpPr/>
          <p:nvPr/>
        </p:nvSpPr>
        <p:spPr>
          <a:xfrm>
            <a:off x="4114800" y="4480560"/>
            <a:ext cx="3063240" cy="502920"/>
          </a:xfrm>
          <a:prstGeom prst="roundRect">
            <a:avLst>
              <a:gd name="adj" fmla="val 14545"/>
            </a:avLst>
          </a:prstGeom>
          <a:solidFill>
            <a:srgbClr val="FFFFFF"/>
          </a:solidFill>
          <a:ln w="12700">
            <a:solidFill>
              <a:srgbClr val="E7E7EE"/>
            </a:solidFill>
            <a:prstDash val="solid"/>
          </a:ln>
        </p:spPr>
      </p:sp>
      <p:sp>
        <p:nvSpPr>
          <p:cNvPr id="22" name="Text 17"/>
          <p:cNvSpPr/>
          <p:nvPr/>
        </p:nvSpPr>
        <p:spPr>
          <a:xfrm>
            <a:off x="4114800" y="4480560"/>
            <a:ext cx="3063240" cy="50292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PostgreSQL · listings_db</a:t>
            </a:r>
            <a:endParaRPr lang="en-US" sz="1050" dirty="0"/>
          </a:p>
        </p:txBody>
      </p:sp>
      <p:sp>
        <p:nvSpPr>
          <p:cNvPr id="23" name="Shape 18"/>
          <p:cNvSpPr/>
          <p:nvPr/>
        </p:nvSpPr>
        <p:spPr>
          <a:xfrm>
            <a:off x="7589520" y="4480560"/>
            <a:ext cx="3063240" cy="502920"/>
          </a:xfrm>
          <a:prstGeom prst="roundRect">
            <a:avLst>
              <a:gd name="adj" fmla="val 14545"/>
            </a:avLst>
          </a:prstGeom>
          <a:solidFill>
            <a:srgbClr val="FFFFFF"/>
          </a:solidFill>
          <a:ln w="12700">
            <a:solidFill>
              <a:srgbClr val="E7E7EE"/>
            </a:solidFill>
            <a:prstDash val="solid"/>
          </a:ln>
        </p:spPr>
      </p:sp>
      <p:sp>
        <p:nvSpPr>
          <p:cNvPr id="24" name="Text 19"/>
          <p:cNvSpPr/>
          <p:nvPr/>
        </p:nvSpPr>
        <p:spPr>
          <a:xfrm>
            <a:off x="7589520" y="4480560"/>
            <a:ext cx="3063240" cy="502920"/>
          </a:xfrm>
          <a:prstGeom prst="rect">
            <a:avLst/>
          </a:prstGeom>
          <a:noFill/>
          <a:ln/>
        </p:spPr>
        <p:txBody>
          <a:bodyPr wrap="square" lIns="0" tIns="0" rIns="0" bIns="0" rtlCol="0" anchor="ctr"/>
          <a:lstStyle/>
          <a:p>
            <a:pPr marL="0" indent="0" algn="ctr">
              <a:buNone/>
            </a:pPr>
            <a:r>
              <a:rPr lang="en-US" sz="1050" dirty="0">
                <a:solidFill>
                  <a:srgbClr val="6B7280"/>
                </a:solidFill>
                <a:latin typeface="Calibri" pitchFamily="34" charset="0"/>
                <a:ea typeface="Calibri" pitchFamily="34" charset="-122"/>
                <a:cs typeface="Calibri" pitchFamily="34" charset="-120"/>
              </a:rPr>
              <a:t>MongoDB · chat_db</a:t>
            </a:r>
            <a:endParaRPr lang="en-US" sz="1050" dirty="0"/>
          </a:p>
        </p:txBody>
      </p:sp>
      <p:sp>
        <p:nvSpPr>
          <p:cNvPr id="25" name="Shape 20"/>
          <p:cNvSpPr/>
          <p:nvPr/>
        </p:nvSpPr>
        <p:spPr>
          <a:xfrm>
            <a:off x="4206240" y="1554480"/>
            <a:ext cx="3063240" cy="548640"/>
          </a:xfrm>
          <a:prstGeom prst="roundRect">
            <a:avLst>
              <a:gd name="adj" fmla="val 13333"/>
            </a:avLst>
          </a:prstGeom>
          <a:solidFill>
            <a:srgbClr val="FF6F59"/>
          </a:solidFill>
          <a:ln/>
        </p:spPr>
      </p:sp>
      <p:sp>
        <p:nvSpPr>
          <p:cNvPr id="26" name="Text 21"/>
          <p:cNvSpPr/>
          <p:nvPr/>
        </p:nvSpPr>
        <p:spPr>
          <a:xfrm>
            <a:off x="4206240" y="1554480"/>
            <a:ext cx="306324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frontend  ·  static HTML/JS + nginx  ·  port 80</a:t>
            </a:r>
            <a:endParaRPr lang="en-US" sz="1100" dirty="0"/>
          </a:p>
        </p:txBody>
      </p:sp>
      <p:sp>
        <p:nvSpPr>
          <p:cNvPr id="27" name="Shape 22"/>
          <p:cNvSpPr/>
          <p:nvPr/>
        </p:nvSpPr>
        <p:spPr>
          <a:xfrm>
            <a:off x="2171700" y="2103120"/>
            <a:ext cx="3566160" cy="228600"/>
          </a:xfrm>
          <a:prstGeom prst="line">
            <a:avLst/>
          </a:prstGeom>
          <a:noFill/>
          <a:ln w="19050">
            <a:solidFill>
              <a:srgbClr val="C7CADF"/>
            </a:solidFill>
            <a:prstDash val="dash"/>
          </a:ln>
        </p:spPr>
      </p:sp>
      <p:sp>
        <p:nvSpPr>
          <p:cNvPr id="28" name="Shape 23"/>
          <p:cNvSpPr/>
          <p:nvPr/>
        </p:nvSpPr>
        <p:spPr>
          <a:xfrm>
            <a:off x="5646420" y="2103120"/>
            <a:ext cx="91440" cy="228600"/>
          </a:xfrm>
          <a:prstGeom prst="line">
            <a:avLst/>
          </a:prstGeom>
          <a:noFill/>
          <a:ln w="19050">
            <a:solidFill>
              <a:srgbClr val="C7CADF"/>
            </a:solidFill>
            <a:prstDash val="dash"/>
          </a:ln>
        </p:spPr>
      </p:sp>
      <p:sp>
        <p:nvSpPr>
          <p:cNvPr id="29" name="Shape 24"/>
          <p:cNvSpPr/>
          <p:nvPr/>
        </p:nvSpPr>
        <p:spPr>
          <a:xfrm>
            <a:off x="5737860" y="2103120"/>
            <a:ext cx="3383280" cy="228600"/>
          </a:xfrm>
          <a:prstGeom prst="line">
            <a:avLst/>
          </a:prstGeom>
          <a:noFill/>
          <a:ln w="19050">
            <a:solidFill>
              <a:srgbClr val="C7CADF"/>
            </a:solidFill>
            <a:prstDash val="dash"/>
          </a:ln>
        </p:spPr>
      </p:sp>
      <p:sp>
        <p:nvSpPr>
          <p:cNvPr id="30" name="Text 25"/>
          <p:cNvSpPr/>
          <p:nvPr/>
        </p:nvSpPr>
        <p:spPr>
          <a:xfrm>
            <a:off x="640080" y="5212080"/>
            <a:ext cx="9601200" cy="320040"/>
          </a:xfrm>
          <a:prstGeom prst="rect">
            <a:avLst/>
          </a:prstGeom>
          <a:noFill/>
          <a:ln/>
        </p:spPr>
        <p:txBody>
          <a:bodyPr wrap="square"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External APIs:  AWS S3 (photo storage)   ·   Stripe (checkout payments)</a:t>
            </a:r>
            <a:endParaRPr lang="en-US" sz="1150" dirty="0"/>
          </a:p>
        </p:txBody>
      </p:sp>
      <p:sp>
        <p:nvSpPr>
          <p:cNvPr id="31" name="Text 26"/>
          <p:cNvSpPr/>
          <p:nvPr/>
        </p:nvSpPr>
        <p:spPr>
          <a:xfrm>
            <a:off x="640080" y="5577840"/>
            <a:ext cx="10607040" cy="457200"/>
          </a:xfrm>
          <a:prstGeom prst="rect">
            <a:avLst/>
          </a:prstGeom>
          <a:noFill/>
          <a:ln/>
        </p:spPr>
        <p:txBody>
          <a:bodyPr wrap="square" rtlCol="0" anchor="ctr"/>
          <a:lstStyle/>
          <a:p>
            <a:pPr marL="0" indent="0">
              <a:lnSpc>
                <a:spcPts val="1500"/>
              </a:lnSpc>
              <a:buNone/>
            </a:pPr>
            <a:r>
              <a:rPr lang="en-US" sz="1100" dirty="0">
                <a:solidFill>
                  <a:srgbClr val="6B7280"/>
                </a:solidFill>
                <a:latin typeface="Calibri" pitchFamily="34" charset="0"/>
                <a:ea typeface="Calibri" pitchFamily="34" charset="-122"/>
                <a:cs typeface="Calibri" pitchFamily="34" charset="-120"/>
              </a:rPr>
              <a:t>Each service: its own database, its own Dockerfile, independently deployable — no shared tables, no direct cross-service DB access.</a:t>
            </a:r>
            <a:endParaRPr lang="en-US" sz="1100" dirty="0"/>
          </a:p>
        </p:txBody>
      </p:sp>
      <p:sp>
        <p:nvSpPr>
          <p:cNvPr id="32" name="Text 27"/>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TECH STACK</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What runs where</a:t>
            </a:r>
            <a:endParaRPr lang="en-US" sz="3200" dirty="0"/>
          </a:p>
        </p:txBody>
      </p:sp>
      <p:sp>
        <p:nvSpPr>
          <p:cNvPr id="4" name="Text 2"/>
          <p:cNvSpPr/>
          <p:nvPr/>
        </p:nvSpPr>
        <p:spPr>
          <a:xfrm>
            <a:off x="640080" y="1691640"/>
            <a:ext cx="2514600" cy="443484"/>
          </a:xfrm>
          <a:prstGeom prst="rect">
            <a:avLst/>
          </a:prstGeom>
          <a:noFill/>
          <a:ln/>
        </p:spPr>
        <p:txBody>
          <a:bodyPr wrap="square" lIns="0" tIns="10160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p>
        </p:txBody>
      </p:sp>
      <p:sp>
        <p:nvSpPr>
          <p:cNvPr id="5" name="Text 3"/>
          <p:cNvSpPr/>
          <p:nvPr/>
        </p:nvSpPr>
        <p:spPr>
          <a:xfrm>
            <a:off x="3246120" y="1691640"/>
            <a:ext cx="2651760" cy="443484"/>
          </a:xfrm>
          <a:prstGeom prst="rect">
            <a:avLst/>
          </a:prstGeom>
          <a:noFill/>
          <a:ln/>
        </p:spPr>
        <p:txBody>
          <a:bodyPr wrap="square" lIns="0" tIns="10160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p>
        </p:txBody>
      </p:sp>
      <p:sp>
        <p:nvSpPr>
          <p:cNvPr id="6" name="Text 4"/>
          <p:cNvSpPr/>
          <p:nvPr/>
        </p:nvSpPr>
        <p:spPr>
          <a:xfrm>
            <a:off x="5989320" y="1691640"/>
            <a:ext cx="5029200" cy="443484"/>
          </a:xfrm>
          <a:prstGeom prst="rect">
            <a:avLst/>
          </a:prstGeom>
          <a:noFill/>
          <a:ln/>
        </p:spPr>
        <p:txBody>
          <a:bodyPr wrap="square" lIns="0" tIns="10160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p>
        </p:txBody>
      </p:sp>
      <p:sp>
        <p:nvSpPr>
          <p:cNvPr id="7" name="Shape 5"/>
          <p:cNvSpPr/>
          <p:nvPr/>
        </p:nvSpPr>
        <p:spPr>
          <a:xfrm>
            <a:off x="640080" y="1691640"/>
            <a:ext cx="10881360" cy="443484"/>
          </a:xfrm>
          <a:prstGeom prst="rect">
            <a:avLst/>
          </a:prstGeom>
          <a:solidFill>
            <a:srgbClr val="1B1F3B"/>
          </a:solidFill>
          <a:ln/>
        </p:spPr>
      </p:sp>
      <p:sp>
        <p:nvSpPr>
          <p:cNvPr id="8" name="Text 6"/>
          <p:cNvSpPr/>
          <p:nvPr/>
        </p:nvSpPr>
        <p:spPr>
          <a:xfrm>
            <a:off x="640080" y="1691640"/>
            <a:ext cx="2514600" cy="443484"/>
          </a:xfrm>
          <a:prstGeom prst="rect">
            <a:avLst/>
          </a:prstGeom>
          <a:noFill/>
          <a:ln/>
        </p:spPr>
        <p:txBody>
          <a:bodyPr wrap="square" lIns="0" tIns="10160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p>
        </p:txBody>
      </p:sp>
      <p:sp>
        <p:nvSpPr>
          <p:cNvPr id="9" name="Text 7"/>
          <p:cNvSpPr/>
          <p:nvPr/>
        </p:nvSpPr>
        <p:spPr>
          <a:xfrm>
            <a:off x="3246120" y="1691640"/>
            <a:ext cx="2651760" cy="443484"/>
          </a:xfrm>
          <a:prstGeom prst="rect">
            <a:avLst/>
          </a:prstGeom>
          <a:noFill/>
          <a:ln/>
        </p:spPr>
        <p:txBody>
          <a:bodyPr wrap="square" lIns="0" tIns="10160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Technology</a:t>
            </a:r>
            <a:endParaRPr lang="en-US" sz="1200" dirty="0"/>
          </a:p>
        </p:txBody>
      </p:sp>
      <p:sp>
        <p:nvSpPr>
          <p:cNvPr id="10" name="Text 8"/>
          <p:cNvSpPr/>
          <p:nvPr/>
        </p:nvSpPr>
        <p:spPr>
          <a:xfrm>
            <a:off x="5989320" y="1691640"/>
            <a:ext cx="5029200" cy="443484"/>
          </a:xfrm>
          <a:prstGeom prst="rect">
            <a:avLst/>
          </a:prstGeom>
          <a:noFill/>
          <a:ln/>
        </p:spPr>
        <p:txBody>
          <a:bodyPr wrap="square" lIns="0" tIns="10160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Used for</a:t>
            </a:r>
            <a:endParaRPr lang="en-US" sz="1200" dirty="0"/>
          </a:p>
        </p:txBody>
      </p:sp>
      <p:sp>
        <p:nvSpPr>
          <p:cNvPr id="11" name="Text 9"/>
          <p:cNvSpPr/>
          <p:nvPr/>
        </p:nvSpPr>
        <p:spPr>
          <a:xfrm>
            <a:off x="640080" y="2135124"/>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Backend runtime</a:t>
            </a:r>
            <a:endParaRPr lang="en-US" sz="1150" dirty="0"/>
          </a:p>
        </p:txBody>
      </p:sp>
      <p:sp>
        <p:nvSpPr>
          <p:cNvPr id="12" name="Text 10"/>
          <p:cNvSpPr/>
          <p:nvPr/>
        </p:nvSpPr>
        <p:spPr>
          <a:xfrm>
            <a:off x="3246120" y="2135124"/>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Node.js + Express</a:t>
            </a:r>
            <a:endParaRPr lang="en-US" sz="1150" dirty="0"/>
          </a:p>
        </p:txBody>
      </p:sp>
      <p:sp>
        <p:nvSpPr>
          <p:cNvPr id="13" name="Text 11"/>
          <p:cNvSpPr/>
          <p:nvPr/>
        </p:nvSpPr>
        <p:spPr>
          <a:xfrm>
            <a:off x="5989320" y="2135124"/>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All three services — REST APIs, routing, middleware</a:t>
            </a:r>
            <a:endParaRPr lang="en-US" sz="1150" dirty="0"/>
          </a:p>
        </p:txBody>
      </p:sp>
      <p:sp>
        <p:nvSpPr>
          <p:cNvPr id="14" name="Shape 12"/>
          <p:cNvSpPr/>
          <p:nvPr/>
        </p:nvSpPr>
        <p:spPr>
          <a:xfrm>
            <a:off x="640080" y="2578608"/>
            <a:ext cx="10881360" cy="443484"/>
          </a:xfrm>
          <a:prstGeom prst="rect">
            <a:avLst/>
          </a:prstGeom>
          <a:solidFill>
            <a:srgbClr val="F1F1F6"/>
          </a:solidFill>
          <a:ln/>
        </p:spPr>
      </p:sp>
      <p:sp>
        <p:nvSpPr>
          <p:cNvPr id="15" name="Text 13"/>
          <p:cNvSpPr/>
          <p:nvPr/>
        </p:nvSpPr>
        <p:spPr>
          <a:xfrm>
            <a:off x="640080" y="2578608"/>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Relational data</a:t>
            </a:r>
            <a:endParaRPr lang="en-US" sz="1150" dirty="0"/>
          </a:p>
        </p:txBody>
      </p:sp>
      <p:sp>
        <p:nvSpPr>
          <p:cNvPr id="16" name="Text 14"/>
          <p:cNvSpPr/>
          <p:nvPr/>
        </p:nvSpPr>
        <p:spPr>
          <a:xfrm>
            <a:off x="3246120" y="2578608"/>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PostgreSQL 16</a:t>
            </a:r>
            <a:endParaRPr lang="en-US" sz="1150" dirty="0"/>
          </a:p>
        </p:txBody>
      </p:sp>
      <p:sp>
        <p:nvSpPr>
          <p:cNvPr id="17" name="Text 15"/>
          <p:cNvSpPr/>
          <p:nvPr/>
        </p:nvSpPr>
        <p:spPr>
          <a:xfrm>
            <a:off x="5989320" y="2578608"/>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Users, listings, orders, negotiated prices (user + listing-service)</a:t>
            </a:r>
            <a:endParaRPr lang="en-US" sz="1150" dirty="0"/>
          </a:p>
        </p:txBody>
      </p:sp>
      <p:sp>
        <p:nvSpPr>
          <p:cNvPr id="18" name="Text 16"/>
          <p:cNvSpPr/>
          <p:nvPr/>
        </p:nvSpPr>
        <p:spPr>
          <a:xfrm>
            <a:off x="640080" y="3022092"/>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Document store</a:t>
            </a:r>
            <a:endParaRPr lang="en-US" sz="1150" dirty="0"/>
          </a:p>
        </p:txBody>
      </p:sp>
      <p:sp>
        <p:nvSpPr>
          <p:cNvPr id="19" name="Text 17"/>
          <p:cNvSpPr/>
          <p:nvPr/>
        </p:nvSpPr>
        <p:spPr>
          <a:xfrm>
            <a:off x="3246120" y="3022092"/>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MongoDB 7 + Mongoose</a:t>
            </a:r>
            <a:endParaRPr lang="en-US" sz="1150" dirty="0"/>
          </a:p>
        </p:txBody>
      </p:sp>
      <p:sp>
        <p:nvSpPr>
          <p:cNvPr id="20" name="Text 18"/>
          <p:cNvSpPr/>
          <p:nvPr/>
        </p:nvSpPr>
        <p:spPr>
          <a:xfrm>
            <a:off x="5989320" y="3022092"/>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Chat messages and bargain-offer state (chat-service)</a:t>
            </a:r>
            <a:endParaRPr lang="en-US" sz="1150" dirty="0"/>
          </a:p>
        </p:txBody>
      </p:sp>
      <p:sp>
        <p:nvSpPr>
          <p:cNvPr id="21" name="Shape 19"/>
          <p:cNvSpPr/>
          <p:nvPr/>
        </p:nvSpPr>
        <p:spPr>
          <a:xfrm>
            <a:off x="640080" y="3465576"/>
            <a:ext cx="10881360" cy="443484"/>
          </a:xfrm>
          <a:prstGeom prst="rect">
            <a:avLst/>
          </a:prstGeom>
          <a:solidFill>
            <a:srgbClr val="F1F1F6"/>
          </a:solidFill>
          <a:ln/>
        </p:spPr>
      </p:sp>
      <p:sp>
        <p:nvSpPr>
          <p:cNvPr id="22" name="Text 20"/>
          <p:cNvSpPr/>
          <p:nvPr/>
        </p:nvSpPr>
        <p:spPr>
          <a:xfrm>
            <a:off x="640080" y="3465576"/>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Auth</a:t>
            </a:r>
            <a:endParaRPr lang="en-US" sz="1150" dirty="0"/>
          </a:p>
        </p:txBody>
      </p:sp>
      <p:sp>
        <p:nvSpPr>
          <p:cNvPr id="23" name="Text 21"/>
          <p:cNvSpPr/>
          <p:nvPr/>
        </p:nvSpPr>
        <p:spPr>
          <a:xfrm>
            <a:off x="3246120" y="3465576"/>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bcryptjs + jsonwebtoken (JWT)</a:t>
            </a:r>
            <a:endParaRPr lang="en-US" sz="1150" dirty="0"/>
          </a:p>
        </p:txBody>
      </p:sp>
      <p:sp>
        <p:nvSpPr>
          <p:cNvPr id="24" name="Text 22"/>
          <p:cNvSpPr/>
          <p:nvPr/>
        </p:nvSpPr>
        <p:spPr>
          <a:xfrm>
            <a:off x="5989320" y="3465576"/>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Password hashing and 2-hour session tokens</a:t>
            </a:r>
            <a:endParaRPr lang="en-US" sz="1150" dirty="0"/>
          </a:p>
        </p:txBody>
      </p:sp>
      <p:sp>
        <p:nvSpPr>
          <p:cNvPr id="25" name="Text 23"/>
          <p:cNvSpPr/>
          <p:nvPr/>
        </p:nvSpPr>
        <p:spPr>
          <a:xfrm>
            <a:off x="640080" y="3909060"/>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File uploads</a:t>
            </a:r>
            <a:endParaRPr lang="en-US" sz="1150" dirty="0"/>
          </a:p>
        </p:txBody>
      </p:sp>
      <p:sp>
        <p:nvSpPr>
          <p:cNvPr id="26" name="Text 24"/>
          <p:cNvSpPr/>
          <p:nvPr/>
        </p:nvSpPr>
        <p:spPr>
          <a:xfrm>
            <a:off x="3246120" y="3909060"/>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multer + multer-s3</a:t>
            </a:r>
            <a:endParaRPr lang="en-US" sz="1150" dirty="0"/>
          </a:p>
        </p:txBody>
      </p:sp>
      <p:sp>
        <p:nvSpPr>
          <p:cNvPr id="27" name="Text 25"/>
          <p:cNvSpPr/>
          <p:nvPr/>
        </p:nvSpPr>
        <p:spPr>
          <a:xfrm>
            <a:off x="5989320" y="3909060"/>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Streaming listing photos straight to S3, no local disk writes</a:t>
            </a:r>
            <a:endParaRPr lang="en-US" sz="1150" dirty="0"/>
          </a:p>
        </p:txBody>
      </p:sp>
      <p:sp>
        <p:nvSpPr>
          <p:cNvPr id="28" name="Shape 26"/>
          <p:cNvSpPr/>
          <p:nvPr/>
        </p:nvSpPr>
        <p:spPr>
          <a:xfrm>
            <a:off x="640080" y="4352544"/>
            <a:ext cx="10881360" cy="443484"/>
          </a:xfrm>
          <a:prstGeom prst="rect">
            <a:avLst/>
          </a:prstGeom>
          <a:solidFill>
            <a:srgbClr val="F1F1F6"/>
          </a:solidFill>
          <a:ln/>
        </p:spPr>
      </p:sp>
      <p:sp>
        <p:nvSpPr>
          <p:cNvPr id="29" name="Text 27"/>
          <p:cNvSpPr/>
          <p:nvPr/>
        </p:nvSpPr>
        <p:spPr>
          <a:xfrm>
            <a:off x="640080" y="4352544"/>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Payments</a:t>
            </a:r>
            <a:endParaRPr lang="en-US" sz="1150" dirty="0"/>
          </a:p>
        </p:txBody>
      </p:sp>
      <p:sp>
        <p:nvSpPr>
          <p:cNvPr id="30" name="Text 28"/>
          <p:cNvSpPr/>
          <p:nvPr/>
        </p:nvSpPr>
        <p:spPr>
          <a:xfrm>
            <a:off x="3246120" y="4352544"/>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Stripe Checkout (Node SDK)</a:t>
            </a:r>
            <a:endParaRPr lang="en-US" sz="1150" dirty="0"/>
          </a:p>
        </p:txBody>
      </p:sp>
      <p:sp>
        <p:nvSpPr>
          <p:cNvPr id="31" name="Text 29"/>
          <p:cNvSpPr/>
          <p:nvPr/>
        </p:nvSpPr>
        <p:spPr>
          <a:xfrm>
            <a:off x="5989320" y="4352544"/>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Hosted payment session for single-item and cart checkout</a:t>
            </a:r>
            <a:endParaRPr lang="en-US" sz="1150" dirty="0"/>
          </a:p>
        </p:txBody>
      </p:sp>
      <p:sp>
        <p:nvSpPr>
          <p:cNvPr id="32" name="Text 30"/>
          <p:cNvSpPr/>
          <p:nvPr/>
        </p:nvSpPr>
        <p:spPr>
          <a:xfrm>
            <a:off x="640080" y="4796028"/>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Frontend</a:t>
            </a:r>
            <a:endParaRPr lang="en-US" sz="1150" dirty="0"/>
          </a:p>
        </p:txBody>
      </p:sp>
      <p:sp>
        <p:nvSpPr>
          <p:cNvPr id="33" name="Text 31"/>
          <p:cNvSpPr/>
          <p:nvPr/>
        </p:nvSpPr>
        <p:spPr>
          <a:xfrm>
            <a:off x="3246120" y="4796028"/>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Vanilla HTML / CSS / JS</a:t>
            </a:r>
            <a:endParaRPr lang="en-US" sz="1150" dirty="0"/>
          </a:p>
        </p:txBody>
      </p:sp>
      <p:sp>
        <p:nvSpPr>
          <p:cNvPr id="34" name="Text 32"/>
          <p:cNvSpPr/>
          <p:nvPr/>
        </p:nvSpPr>
        <p:spPr>
          <a:xfrm>
            <a:off x="5989320" y="4796028"/>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No framework — hash-based routing, fetch() calls, CSS theming</a:t>
            </a:r>
            <a:endParaRPr lang="en-US" sz="1150" dirty="0"/>
          </a:p>
        </p:txBody>
      </p:sp>
      <p:sp>
        <p:nvSpPr>
          <p:cNvPr id="35" name="Shape 33"/>
          <p:cNvSpPr/>
          <p:nvPr/>
        </p:nvSpPr>
        <p:spPr>
          <a:xfrm>
            <a:off x="640080" y="5239512"/>
            <a:ext cx="10881360" cy="443484"/>
          </a:xfrm>
          <a:prstGeom prst="rect">
            <a:avLst/>
          </a:prstGeom>
          <a:solidFill>
            <a:srgbClr val="F1F1F6"/>
          </a:solidFill>
          <a:ln/>
        </p:spPr>
      </p:sp>
      <p:sp>
        <p:nvSpPr>
          <p:cNvPr id="36" name="Text 34"/>
          <p:cNvSpPr/>
          <p:nvPr/>
        </p:nvSpPr>
        <p:spPr>
          <a:xfrm>
            <a:off x="640080" y="5239512"/>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Containers</a:t>
            </a:r>
            <a:endParaRPr lang="en-US" sz="1150" dirty="0"/>
          </a:p>
        </p:txBody>
      </p:sp>
      <p:sp>
        <p:nvSpPr>
          <p:cNvPr id="37" name="Text 35"/>
          <p:cNvSpPr/>
          <p:nvPr/>
        </p:nvSpPr>
        <p:spPr>
          <a:xfrm>
            <a:off x="3246120" y="5239512"/>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Docker + Docker Compose</a:t>
            </a:r>
            <a:endParaRPr lang="en-US" sz="1150" dirty="0"/>
          </a:p>
        </p:txBody>
      </p:sp>
      <p:sp>
        <p:nvSpPr>
          <p:cNvPr id="38" name="Text 36"/>
          <p:cNvSpPr/>
          <p:nvPr/>
        </p:nvSpPr>
        <p:spPr>
          <a:xfrm>
            <a:off x="5989320" y="5239512"/>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Local dev — one command builds and runs all 5 containers</a:t>
            </a:r>
            <a:endParaRPr lang="en-US" sz="1150" dirty="0"/>
          </a:p>
        </p:txBody>
      </p:sp>
      <p:sp>
        <p:nvSpPr>
          <p:cNvPr id="39" name="Text 37"/>
          <p:cNvSpPr/>
          <p:nvPr/>
        </p:nvSpPr>
        <p:spPr>
          <a:xfrm>
            <a:off x="640080" y="5682996"/>
            <a:ext cx="2514600" cy="443484"/>
          </a:xfrm>
          <a:prstGeom prst="rect">
            <a:avLst/>
          </a:prstGeom>
          <a:noFill/>
          <a:ln/>
        </p:spPr>
        <p:txBody>
          <a:bodyPr wrap="square" lIns="0" tIns="101600" rIns="0" bIns="0" rtlCol="0" anchor="ctr"/>
          <a:lstStyle/>
          <a:p>
            <a:pPr marL="0" indent="0">
              <a:buNone/>
            </a:pPr>
            <a:r>
              <a:rPr lang="en-US" sz="1150" b="1" dirty="0">
                <a:solidFill>
                  <a:srgbClr val="22262F"/>
                </a:solidFill>
                <a:latin typeface="Calibri" pitchFamily="34" charset="0"/>
                <a:ea typeface="Calibri" pitchFamily="34" charset="-122"/>
                <a:cs typeface="Calibri" pitchFamily="34" charset="-120"/>
              </a:rPr>
              <a:t>Orchestration</a:t>
            </a:r>
            <a:endParaRPr lang="en-US" sz="1150" dirty="0"/>
          </a:p>
        </p:txBody>
      </p:sp>
      <p:sp>
        <p:nvSpPr>
          <p:cNvPr id="40" name="Text 38"/>
          <p:cNvSpPr/>
          <p:nvPr/>
        </p:nvSpPr>
        <p:spPr>
          <a:xfrm>
            <a:off x="3246120" y="5682996"/>
            <a:ext cx="2651760" cy="443484"/>
          </a:xfrm>
          <a:prstGeom prst="rect">
            <a:avLst/>
          </a:prstGeom>
          <a:noFill/>
          <a:ln/>
        </p:spPr>
        <p:txBody>
          <a:bodyPr wrap="square" lIns="0" tIns="101600" rIns="0" bIns="0" rtlCol="0" anchor="ctr"/>
          <a:lstStyle/>
          <a:p>
            <a:pPr marL="0" indent="0">
              <a:buNone/>
            </a:pPr>
            <a:r>
              <a:rPr lang="en-US" sz="1150" dirty="0">
                <a:solidFill>
                  <a:srgbClr val="1B1F3B"/>
                </a:solidFill>
                <a:latin typeface="Calibri" pitchFamily="34" charset="0"/>
                <a:ea typeface="Calibri" pitchFamily="34" charset="-122"/>
                <a:cs typeface="Calibri" pitchFamily="34" charset="-120"/>
              </a:rPr>
              <a:t>Kubernetes (Docker Desktop)</a:t>
            </a:r>
            <a:endParaRPr lang="en-US" sz="1150" dirty="0"/>
          </a:p>
        </p:txBody>
      </p:sp>
      <p:sp>
        <p:nvSpPr>
          <p:cNvPr id="41" name="Text 39"/>
          <p:cNvSpPr/>
          <p:nvPr/>
        </p:nvSpPr>
        <p:spPr>
          <a:xfrm>
            <a:off x="5989320" y="5682996"/>
            <a:ext cx="5029200" cy="443484"/>
          </a:xfrm>
          <a:prstGeom prst="rect">
            <a:avLst/>
          </a:prstGeom>
          <a:noFill/>
          <a:ln/>
        </p:spPr>
        <p:txBody>
          <a:bodyPr wrap="square" lIns="0" tIns="101600" rIns="0" bIns="0" rtlCol="0" anchor="ctr"/>
          <a:lstStyle/>
          <a:p>
            <a:pPr marL="0" indent="0">
              <a:buNone/>
            </a:pPr>
            <a:r>
              <a:rPr lang="en-US" sz="1150" dirty="0">
                <a:solidFill>
                  <a:srgbClr val="22262F"/>
                </a:solidFill>
                <a:latin typeface="Calibri" pitchFamily="34" charset="0"/>
                <a:ea typeface="Calibri" pitchFamily="34" charset="-122"/>
                <a:cs typeface="Calibri" pitchFamily="34" charset="-120"/>
              </a:rPr>
              <a:t>Deployments + NodePort Services for every component</a:t>
            </a:r>
            <a:endParaRPr lang="en-US" sz="1150" dirty="0"/>
          </a:p>
        </p:txBody>
      </p:sp>
      <p:sp>
        <p:nvSpPr>
          <p:cNvPr id="42" name="Text 40"/>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INTEGRATIONS</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External APIs, and exactly why each is there</a:t>
            </a:r>
            <a:endParaRPr lang="en-US" sz="3200" dirty="0"/>
          </a:p>
        </p:txBody>
      </p:sp>
      <p:sp>
        <p:nvSpPr>
          <p:cNvPr id="4" name="Shape 2"/>
          <p:cNvSpPr/>
          <p:nvPr/>
        </p:nvSpPr>
        <p:spPr>
          <a:xfrm>
            <a:off x="640080" y="1965960"/>
            <a:ext cx="10881360" cy="1874520"/>
          </a:xfrm>
          <a:prstGeom prst="roundRect">
            <a:avLst>
              <a:gd name="adj" fmla="val 4878"/>
            </a:avLst>
          </a:prstGeom>
          <a:solidFill>
            <a:srgbClr val="FFFFFF"/>
          </a:solidFill>
          <a:ln w="12700">
            <a:solidFill>
              <a:srgbClr val="E7E7EE"/>
            </a:solidFill>
            <a:prstDash val="solid"/>
          </a:ln>
        </p:spPr>
      </p:sp>
      <p:sp>
        <p:nvSpPr>
          <p:cNvPr id="5" name="Shape 3"/>
          <p:cNvSpPr/>
          <p:nvPr/>
        </p:nvSpPr>
        <p:spPr>
          <a:xfrm>
            <a:off x="914400" y="2286000"/>
            <a:ext cx="640080" cy="640080"/>
          </a:xfrm>
          <a:prstGeom prst="ellipse">
            <a:avLst/>
          </a:prstGeom>
          <a:solidFill>
            <a:srgbClr val="1B1F3B"/>
          </a:solidFill>
          <a:ln/>
        </p:spPr>
      </p:sp>
      <p:pic>
        <p:nvPicPr>
          <p:cNvPr id="6" name="Image 0" descr="/home/claude/work/deck/icons/camera_gold.png"/>
          <p:cNvPicPr>
            <a:picLocks noChangeAspect="1"/>
          </p:cNvPicPr>
          <p:nvPr/>
        </p:nvPicPr>
        <p:blipFill>
          <a:blip r:embed="rId3"/>
          <a:stretch>
            <a:fillRect/>
          </a:stretch>
        </p:blipFill>
        <p:spPr>
          <a:xfrm>
            <a:off x="1069848" y="2441448"/>
            <a:ext cx="329184" cy="329184"/>
          </a:xfrm>
          <a:prstGeom prst="rect">
            <a:avLst/>
          </a:prstGeom>
        </p:spPr>
      </p:pic>
      <p:sp>
        <p:nvSpPr>
          <p:cNvPr id="7" name="Text 4"/>
          <p:cNvSpPr/>
          <p:nvPr/>
        </p:nvSpPr>
        <p:spPr>
          <a:xfrm>
            <a:off x="1737360" y="2167128"/>
            <a:ext cx="9418320" cy="365760"/>
          </a:xfrm>
          <a:prstGeom prst="rect">
            <a:avLst/>
          </a:prstGeom>
          <a:noFill/>
          <a:ln/>
        </p:spPr>
        <p:txBody>
          <a:bodyPr wrap="square" lIns="0" tIns="0" rIns="0" bIns="0" rtlCol="0" anchor="ctr"/>
          <a:lstStyle/>
          <a:p>
            <a:pPr marL="0" indent="0">
              <a:buNone/>
            </a:pPr>
            <a:r>
              <a:rPr lang="en-US" sz="1550" b="1" dirty="0">
                <a:solidFill>
                  <a:srgbClr val="22262F"/>
                </a:solidFill>
                <a:latin typeface="Cambria" pitchFamily="34" charset="0"/>
                <a:ea typeface="Cambria" pitchFamily="34" charset="-122"/>
                <a:cs typeface="Cambria" pitchFamily="34" charset="-120"/>
              </a:rPr>
              <a:t>AWS S3 — @aws-sdk/client-s3 + multer-s3</a:t>
            </a:r>
            <a:endParaRPr lang="en-US" sz="1550" dirty="0"/>
          </a:p>
        </p:txBody>
      </p:sp>
      <p:sp>
        <p:nvSpPr>
          <p:cNvPr id="8" name="Text 5"/>
          <p:cNvSpPr/>
          <p:nvPr/>
        </p:nvSpPr>
        <p:spPr>
          <a:xfrm>
            <a:off x="1737360" y="2514600"/>
            <a:ext cx="9418320" cy="274320"/>
          </a:xfrm>
          <a:prstGeom prst="rect">
            <a:avLst/>
          </a:prstGeom>
          <a:noFill/>
          <a:ln/>
        </p:spPr>
        <p:txBody>
          <a:bodyPr wrap="square" lIns="0" tIns="0" rIns="0" bIns="0" rtlCol="0" anchor="ctr"/>
          <a:lstStyle/>
          <a:p>
            <a:pPr marL="0" indent="0">
              <a:buNone/>
            </a:pPr>
            <a:r>
              <a:rPr lang="en-US" sz="1050" i="1" dirty="0">
                <a:solidFill>
                  <a:srgbClr val="FF6F59"/>
                </a:solidFill>
                <a:latin typeface="Calibri" pitchFamily="34" charset="0"/>
                <a:ea typeface="Calibri" pitchFamily="34" charset="-122"/>
                <a:cs typeface="Calibri" pitchFamily="34" charset="-120"/>
              </a:rPr>
              <a:t>listing-service, on POST /api/listings</a:t>
            </a:r>
            <a:endParaRPr lang="en-US" sz="1050" dirty="0"/>
          </a:p>
        </p:txBody>
      </p:sp>
      <p:sp>
        <p:nvSpPr>
          <p:cNvPr id="9" name="Text 6"/>
          <p:cNvSpPr/>
          <p:nvPr/>
        </p:nvSpPr>
        <p:spPr>
          <a:xfrm>
            <a:off x="1737360" y="2834640"/>
            <a:ext cx="9418320" cy="914400"/>
          </a:xfrm>
          <a:prstGeom prst="rect">
            <a:avLst/>
          </a:prstGeom>
          <a:noFill/>
          <a:ln/>
        </p:spPr>
        <p:txBody>
          <a:bodyPr wrap="square" lIns="0" tIns="0" rIns="0" bIns="0" rtlCol="0" anchor="ctr"/>
          <a:lstStyle/>
          <a:p>
            <a:pPr marL="0" indent="0">
              <a:lnSpc>
                <a:spcPts val="1500"/>
              </a:lnSpc>
              <a:buNone/>
            </a:pPr>
            <a:r>
              <a:rPr lang="en-US" sz="1100" dirty="0">
                <a:solidFill>
                  <a:srgbClr val="6B7280"/>
                </a:solidFill>
                <a:latin typeface="Calibri" pitchFamily="34" charset="0"/>
                <a:ea typeface="Calibri" pitchFamily="34" charset="-122"/>
                <a:cs typeface="Calibri" pitchFamily="34" charset="-120"/>
              </a:rPr>
              <a:t>Listing photos are streamed directly from the upload request to an S3 bucket (via multer-s3) instead of being saved to local disk — the returned object URL is stored as image_url. Capped at 5MB, images only.</a:t>
            </a:r>
            <a:endParaRPr lang="en-US" sz="1100" dirty="0"/>
          </a:p>
        </p:txBody>
      </p:sp>
      <p:sp>
        <p:nvSpPr>
          <p:cNvPr id="10" name="Shape 7"/>
          <p:cNvSpPr/>
          <p:nvPr/>
        </p:nvSpPr>
        <p:spPr>
          <a:xfrm>
            <a:off x="640080" y="4114800"/>
            <a:ext cx="10881360" cy="1874520"/>
          </a:xfrm>
          <a:prstGeom prst="roundRect">
            <a:avLst>
              <a:gd name="adj" fmla="val 4878"/>
            </a:avLst>
          </a:prstGeom>
          <a:solidFill>
            <a:srgbClr val="FFFFFF"/>
          </a:solidFill>
          <a:ln w="12700">
            <a:solidFill>
              <a:srgbClr val="E7E7EE"/>
            </a:solidFill>
            <a:prstDash val="solid"/>
          </a:ln>
        </p:spPr>
      </p:sp>
      <p:sp>
        <p:nvSpPr>
          <p:cNvPr id="11" name="Shape 8"/>
          <p:cNvSpPr/>
          <p:nvPr/>
        </p:nvSpPr>
        <p:spPr>
          <a:xfrm>
            <a:off x="914400" y="4434840"/>
            <a:ext cx="640080" cy="640080"/>
          </a:xfrm>
          <a:prstGeom prst="ellipse">
            <a:avLst/>
          </a:prstGeom>
          <a:solidFill>
            <a:srgbClr val="1B1F3B"/>
          </a:solidFill>
          <a:ln/>
        </p:spPr>
      </p:sp>
      <p:pic>
        <p:nvPicPr>
          <p:cNvPr id="12" name="Image 1" descr="/home/claude/work/deck/icons/card_gold.png"/>
          <p:cNvPicPr>
            <a:picLocks noChangeAspect="1"/>
          </p:cNvPicPr>
          <p:nvPr/>
        </p:nvPicPr>
        <p:blipFill>
          <a:blip r:embed="rId4"/>
          <a:stretch>
            <a:fillRect/>
          </a:stretch>
        </p:blipFill>
        <p:spPr>
          <a:xfrm>
            <a:off x="1069848" y="4590288"/>
            <a:ext cx="329184" cy="329184"/>
          </a:xfrm>
          <a:prstGeom prst="rect">
            <a:avLst/>
          </a:prstGeom>
        </p:spPr>
      </p:pic>
      <p:sp>
        <p:nvSpPr>
          <p:cNvPr id="13" name="Text 9"/>
          <p:cNvSpPr/>
          <p:nvPr/>
        </p:nvSpPr>
        <p:spPr>
          <a:xfrm>
            <a:off x="1737360" y="4315968"/>
            <a:ext cx="9418320" cy="365760"/>
          </a:xfrm>
          <a:prstGeom prst="rect">
            <a:avLst/>
          </a:prstGeom>
          <a:noFill/>
          <a:ln/>
        </p:spPr>
        <p:txBody>
          <a:bodyPr wrap="square" lIns="0" tIns="0" rIns="0" bIns="0" rtlCol="0" anchor="ctr"/>
          <a:lstStyle/>
          <a:p>
            <a:pPr marL="0" indent="0">
              <a:buNone/>
            </a:pPr>
            <a:r>
              <a:rPr lang="en-US" sz="1550" b="1" dirty="0">
                <a:solidFill>
                  <a:srgbClr val="22262F"/>
                </a:solidFill>
                <a:latin typeface="Cambria" pitchFamily="34" charset="0"/>
                <a:ea typeface="Cambria" pitchFamily="34" charset="-122"/>
                <a:cs typeface="Cambria" pitchFamily="34" charset="-120"/>
              </a:rPr>
              <a:t>Stripe Checkout — stripe Node SDK</a:t>
            </a:r>
            <a:endParaRPr lang="en-US" sz="1550" dirty="0"/>
          </a:p>
        </p:txBody>
      </p:sp>
      <p:sp>
        <p:nvSpPr>
          <p:cNvPr id="14" name="Text 10"/>
          <p:cNvSpPr/>
          <p:nvPr/>
        </p:nvSpPr>
        <p:spPr>
          <a:xfrm>
            <a:off x="1737360" y="4663440"/>
            <a:ext cx="9418320" cy="274320"/>
          </a:xfrm>
          <a:prstGeom prst="rect">
            <a:avLst/>
          </a:prstGeom>
          <a:noFill/>
          <a:ln/>
        </p:spPr>
        <p:txBody>
          <a:bodyPr wrap="square" lIns="0" tIns="0" rIns="0" bIns="0" rtlCol="0" anchor="ctr"/>
          <a:lstStyle/>
          <a:p>
            <a:pPr marL="0" indent="0">
              <a:buNone/>
            </a:pPr>
            <a:r>
              <a:rPr lang="en-US" sz="1050" i="1" dirty="0">
                <a:solidFill>
                  <a:srgbClr val="FF6F59"/>
                </a:solidFill>
                <a:latin typeface="Calibri" pitchFamily="34" charset="0"/>
                <a:ea typeface="Calibri" pitchFamily="34" charset="-122"/>
                <a:cs typeface="Calibri" pitchFamily="34" charset="-120"/>
              </a:rPr>
              <a:t>listing-service, on POST /:id/checkout and /checkout/cart</a:t>
            </a:r>
            <a:endParaRPr lang="en-US" sz="1050" dirty="0"/>
          </a:p>
        </p:txBody>
      </p:sp>
      <p:sp>
        <p:nvSpPr>
          <p:cNvPr id="15" name="Text 11"/>
          <p:cNvSpPr/>
          <p:nvPr/>
        </p:nvSpPr>
        <p:spPr>
          <a:xfrm>
            <a:off x="1737360" y="4983480"/>
            <a:ext cx="9418320" cy="914400"/>
          </a:xfrm>
          <a:prstGeom prst="rect">
            <a:avLst/>
          </a:prstGeom>
          <a:noFill/>
          <a:ln/>
        </p:spPr>
        <p:txBody>
          <a:bodyPr wrap="square" lIns="0" tIns="0" rIns="0" bIns="0" rtlCol="0" anchor="ctr"/>
          <a:lstStyle/>
          <a:p>
            <a:pPr marL="0" indent="0">
              <a:lnSpc>
                <a:spcPts val="1500"/>
              </a:lnSpc>
              <a:buNone/>
            </a:pPr>
            <a:r>
              <a:rPr lang="en-US" sz="1100" dirty="0">
                <a:solidFill>
                  <a:srgbClr val="6B7280"/>
                </a:solidFill>
                <a:latin typeface="Calibri" pitchFamily="34" charset="0"/>
                <a:ea typeface="Calibri" pitchFamily="34" charset="-122"/>
                <a:cs typeface="Calibri" pitchFamily="34" charset="-120"/>
              </a:rPr>
              <a:t>Creates a hosted Stripe Checkout session per purchase (single listing or whole cart). The line-item price is the buyer's negotiated price if one exists, otherwise the listing price. An orders row is written as "pending" and flipped to "paid" once /orders/confirm verifies the session with Stripe.</a:t>
            </a:r>
            <a:endParaRPr lang="en-US" sz="1100" dirty="0"/>
          </a:p>
        </p:txBody>
      </p:sp>
      <p:sp>
        <p:nvSpPr>
          <p:cNvPr id="16" name="Text 12"/>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FEATURE</a:t>
            </a:r>
            <a:endParaRPr lang="en-US" sz="1300" dirty="0"/>
          </a:p>
        </p:txBody>
      </p:sp>
      <p:sp>
        <p:nvSpPr>
          <p:cNvPr id="3" name="Text 1"/>
          <p:cNvSpPr/>
          <p:nvPr/>
        </p:nvSpPr>
        <p:spPr>
          <a:xfrm>
            <a:off x="640080" y="749808"/>
            <a:ext cx="777240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Auth &amp; the buyer/seller role switch</a:t>
            </a:r>
            <a:endParaRPr lang="en-US" sz="3200" dirty="0"/>
          </a:p>
        </p:txBody>
      </p:sp>
      <p:sp>
        <p:nvSpPr>
          <p:cNvPr id="4" name="Shape 2"/>
          <p:cNvSpPr/>
          <p:nvPr/>
        </p:nvSpPr>
        <p:spPr>
          <a:xfrm>
            <a:off x="9692640" y="502920"/>
            <a:ext cx="1371600" cy="1371600"/>
          </a:xfrm>
          <a:prstGeom prst="ellipse">
            <a:avLst/>
          </a:prstGeom>
          <a:solidFill>
            <a:srgbClr val="1B1F3B"/>
          </a:solidFill>
          <a:ln/>
        </p:spPr>
      </p:sp>
      <p:pic>
        <p:nvPicPr>
          <p:cNvPr id="5" name="Image 0" descr="/home/claude/work/deck/icons/lock_coral.png"/>
          <p:cNvPicPr>
            <a:picLocks noChangeAspect="1"/>
          </p:cNvPicPr>
          <p:nvPr/>
        </p:nvPicPr>
        <p:blipFill>
          <a:blip r:embed="rId3"/>
          <a:stretch>
            <a:fillRect/>
          </a:stretch>
        </p:blipFill>
        <p:spPr>
          <a:xfrm>
            <a:off x="10058400" y="868680"/>
            <a:ext cx="640080" cy="640080"/>
          </a:xfrm>
          <a:prstGeom prst="rect">
            <a:avLst/>
          </a:prstGeom>
        </p:spPr>
      </p:pic>
      <p:sp>
        <p:nvSpPr>
          <p:cNvPr id="6" name="Shape 3"/>
          <p:cNvSpPr/>
          <p:nvPr/>
        </p:nvSpPr>
        <p:spPr>
          <a:xfrm>
            <a:off x="640080" y="2103120"/>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7" name="Shape 4"/>
          <p:cNvSpPr/>
          <p:nvPr/>
        </p:nvSpPr>
        <p:spPr>
          <a:xfrm>
            <a:off x="868680" y="2322576"/>
            <a:ext cx="402336" cy="402336"/>
          </a:xfrm>
          <a:prstGeom prst="ellipse">
            <a:avLst/>
          </a:prstGeom>
          <a:solidFill>
            <a:srgbClr val="F4C95D"/>
          </a:solidFill>
          <a:ln/>
        </p:spPr>
      </p:sp>
      <p:sp>
        <p:nvSpPr>
          <p:cNvPr id="8" name="Text 5"/>
          <p:cNvSpPr/>
          <p:nvPr/>
        </p:nvSpPr>
        <p:spPr>
          <a:xfrm>
            <a:off x="868680" y="2322576"/>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508760" y="2176272"/>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JWT-based auth —  </a:t>
            </a:r>
            <a:r>
              <a:rPr lang="en-US" sz="1200" dirty="0">
                <a:solidFill>
                  <a:srgbClr val="6B7280"/>
                </a:solidFill>
                <a:latin typeface="Calibri" pitchFamily="34" charset="0"/>
                <a:ea typeface="Calibri" pitchFamily="34" charset="-122"/>
                <a:cs typeface="Calibri" pitchFamily="34" charset="-120"/>
              </a:rPr>
              <a:t>passwords hashed with bcryptjs; login returns a 2-hour JWT (jsonwebtoken) used as a Bearer token.</a:t>
            </a:r>
            <a:endParaRPr lang="en-US" sz="1200" dirty="0"/>
          </a:p>
        </p:txBody>
      </p:sp>
      <p:sp>
        <p:nvSpPr>
          <p:cNvPr id="10" name="Shape 7"/>
          <p:cNvSpPr/>
          <p:nvPr/>
        </p:nvSpPr>
        <p:spPr>
          <a:xfrm>
            <a:off x="640080" y="3090672"/>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1" name="Shape 8"/>
          <p:cNvSpPr/>
          <p:nvPr/>
        </p:nvSpPr>
        <p:spPr>
          <a:xfrm>
            <a:off x="868680" y="3310128"/>
            <a:ext cx="402336" cy="402336"/>
          </a:xfrm>
          <a:prstGeom prst="ellipse">
            <a:avLst/>
          </a:prstGeom>
          <a:solidFill>
            <a:srgbClr val="F4C95D"/>
          </a:solidFill>
          <a:ln/>
        </p:spPr>
      </p:sp>
      <p:sp>
        <p:nvSpPr>
          <p:cNvPr id="12" name="Text 9"/>
          <p:cNvSpPr/>
          <p:nvPr/>
        </p:nvSpPr>
        <p:spPr>
          <a:xfrm>
            <a:off x="868680" y="3310128"/>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1508760" y="3163824"/>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Choose-a-role gate —  </a:t>
            </a:r>
            <a:r>
              <a:rPr lang="en-US" sz="1200" dirty="0">
                <a:solidFill>
                  <a:srgbClr val="6B7280"/>
                </a:solidFill>
                <a:latin typeface="Calibri" pitchFamily="34" charset="0"/>
                <a:ea typeface="Calibri" pitchFamily="34" charset="-122"/>
                <a:cs typeface="Calibri" pitchFamily="34" charset="-120"/>
              </a:rPr>
              <a:t>a first-time or freshly logged-in user is forced to /choose-role before anything else loads.</a:t>
            </a:r>
            <a:endParaRPr lang="en-US" sz="1200" dirty="0"/>
          </a:p>
        </p:txBody>
      </p:sp>
      <p:sp>
        <p:nvSpPr>
          <p:cNvPr id="14" name="Shape 11"/>
          <p:cNvSpPr/>
          <p:nvPr/>
        </p:nvSpPr>
        <p:spPr>
          <a:xfrm>
            <a:off x="640080" y="4078224"/>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5" name="Shape 12"/>
          <p:cNvSpPr/>
          <p:nvPr/>
        </p:nvSpPr>
        <p:spPr>
          <a:xfrm>
            <a:off x="868680" y="4297680"/>
            <a:ext cx="402336" cy="402336"/>
          </a:xfrm>
          <a:prstGeom prst="ellipse">
            <a:avLst/>
          </a:prstGeom>
          <a:solidFill>
            <a:srgbClr val="F4C95D"/>
          </a:solidFill>
          <a:ln/>
        </p:spPr>
      </p:sp>
      <p:sp>
        <p:nvSpPr>
          <p:cNvPr id="16" name="Text 13"/>
          <p:cNvSpPr/>
          <p:nvPr/>
        </p:nvSpPr>
        <p:spPr>
          <a:xfrm>
            <a:off x="868680" y="4297680"/>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508760" y="4151376"/>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Buying / Selling mode —  </a:t>
            </a:r>
            <a:r>
              <a:rPr lang="en-US" sz="1200" dirty="0">
                <a:solidFill>
                  <a:srgbClr val="6B7280"/>
                </a:solidFill>
                <a:latin typeface="Calibri" pitchFamily="34" charset="0"/>
                <a:ea typeface="Calibri" pitchFamily="34" charset="-122"/>
                <a:cs typeface="Calibri" pitchFamily="34" charset="-120"/>
              </a:rPr>
              <a:t>switching mode changes navigation and defaults, but ownership of a listing always shows seller tools regardless of mode.</a:t>
            </a:r>
            <a:endParaRPr lang="en-US" sz="1200" dirty="0"/>
          </a:p>
        </p:txBody>
      </p:sp>
      <p:sp>
        <p:nvSpPr>
          <p:cNvPr id="18" name="Text 15"/>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FEATURE</a:t>
            </a:r>
            <a:endParaRPr lang="en-US" sz="1300" dirty="0"/>
          </a:p>
        </p:txBody>
      </p:sp>
      <p:sp>
        <p:nvSpPr>
          <p:cNvPr id="3" name="Text 1"/>
          <p:cNvSpPr/>
          <p:nvPr/>
        </p:nvSpPr>
        <p:spPr>
          <a:xfrm>
            <a:off x="640080" y="749808"/>
            <a:ext cx="777240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Search, filter &amp; browse</a:t>
            </a:r>
            <a:endParaRPr lang="en-US" sz="3200" dirty="0"/>
          </a:p>
        </p:txBody>
      </p:sp>
      <p:sp>
        <p:nvSpPr>
          <p:cNvPr id="4" name="Shape 2"/>
          <p:cNvSpPr/>
          <p:nvPr/>
        </p:nvSpPr>
        <p:spPr>
          <a:xfrm>
            <a:off x="9692640" y="502920"/>
            <a:ext cx="1371600" cy="1371600"/>
          </a:xfrm>
          <a:prstGeom prst="ellipse">
            <a:avLst/>
          </a:prstGeom>
          <a:solidFill>
            <a:srgbClr val="1B1F3B"/>
          </a:solidFill>
          <a:ln/>
        </p:spPr>
      </p:sp>
      <p:pic>
        <p:nvPicPr>
          <p:cNvPr id="5" name="Image 0" descr="/home/claude/work/deck/icons/search_coral.png"/>
          <p:cNvPicPr>
            <a:picLocks noChangeAspect="1"/>
          </p:cNvPicPr>
          <p:nvPr/>
        </p:nvPicPr>
        <p:blipFill>
          <a:blip r:embed="rId3"/>
          <a:stretch>
            <a:fillRect/>
          </a:stretch>
        </p:blipFill>
        <p:spPr>
          <a:xfrm>
            <a:off x="10058400" y="868680"/>
            <a:ext cx="640080" cy="640080"/>
          </a:xfrm>
          <a:prstGeom prst="rect">
            <a:avLst/>
          </a:prstGeom>
        </p:spPr>
      </p:pic>
      <p:sp>
        <p:nvSpPr>
          <p:cNvPr id="6" name="Shape 3"/>
          <p:cNvSpPr/>
          <p:nvPr/>
        </p:nvSpPr>
        <p:spPr>
          <a:xfrm>
            <a:off x="640080" y="2103120"/>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7" name="Shape 4"/>
          <p:cNvSpPr/>
          <p:nvPr/>
        </p:nvSpPr>
        <p:spPr>
          <a:xfrm>
            <a:off x="868680" y="2322576"/>
            <a:ext cx="402336" cy="402336"/>
          </a:xfrm>
          <a:prstGeom prst="ellipse">
            <a:avLst/>
          </a:prstGeom>
          <a:solidFill>
            <a:srgbClr val="F4C95D"/>
          </a:solidFill>
          <a:ln/>
        </p:spPr>
      </p:sp>
      <p:sp>
        <p:nvSpPr>
          <p:cNvPr id="8" name="Text 5"/>
          <p:cNvSpPr/>
          <p:nvPr/>
        </p:nvSpPr>
        <p:spPr>
          <a:xfrm>
            <a:off x="868680" y="2322576"/>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508760" y="2176272"/>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Full filter strip —  </a:t>
            </a:r>
            <a:r>
              <a:rPr lang="en-US" sz="1200" dirty="0">
                <a:solidFill>
                  <a:srgbClr val="6B7280"/>
                </a:solidFill>
                <a:latin typeface="Calibri" pitchFamily="34" charset="0"/>
                <a:ea typeface="Calibri" pitchFamily="34" charset="-122"/>
                <a:cs typeface="Calibri" pitchFamily="34" charset="-120"/>
              </a:rPr>
              <a:t>free-text search (title/description), category, location, and min/max price, all combined as SQL conditions.</a:t>
            </a:r>
            <a:endParaRPr lang="en-US" sz="1200" dirty="0"/>
          </a:p>
        </p:txBody>
      </p:sp>
      <p:sp>
        <p:nvSpPr>
          <p:cNvPr id="10" name="Shape 7"/>
          <p:cNvSpPr/>
          <p:nvPr/>
        </p:nvSpPr>
        <p:spPr>
          <a:xfrm>
            <a:off x="640080" y="3090672"/>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1" name="Shape 8"/>
          <p:cNvSpPr/>
          <p:nvPr/>
        </p:nvSpPr>
        <p:spPr>
          <a:xfrm>
            <a:off x="868680" y="3310128"/>
            <a:ext cx="402336" cy="402336"/>
          </a:xfrm>
          <a:prstGeom prst="ellipse">
            <a:avLst/>
          </a:prstGeom>
          <a:solidFill>
            <a:srgbClr val="F4C95D"/>
          </a:solidFill>
          <a:ln/>
        </p:spPr>
      </p:sp>
      <p:sp>
        <p:nvSpPr>
          <p:cNvPr id="12" name="Text 9"/>
          <p:cNvSpPr/>
          <p:nvPr/>
        </p:nvSpPr>
        <p:spPr>
          <a:xfrm>
            <a:off x="868680" y="3310128"/>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1508760" y="3163824"/>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Paginated results —  </a:t>
            </a:r>
            <a:r>
              <a:rPr lang="en-US" sz="1200" dirty="0">
                <a:solidFill>
                  <a:srgbClr val="6B7280"/>
                </a:solidFill>
                <a:latin typeface="Calibri" pitchFamily="34" charset="0"/>
                <a:ea typeface="Calibri" pitchFamily="34" charset="-122"/>
                <a:cs typeface="Calibri" pitchFamily="34" charset="-120"/>
              </a:rPr>
              <a:t>GET /api/listings supports page + limit, ordered newest-first, excluding already-sold items.</a:t>
            </a:r>
            <a:endParaRPr lang="en-US" sz="1200" dirty="0"/>
          </a:p>
        </p:txBody>
      </p:sp>
      <p:sp>
        <p:nvSpPr>
          <p:cNvPr id="14" name="Shape 11"/>
          <p:cNvSpPr/>
          <p:nvPr/>
        </p:nvSpPr>
        <p:spPr>
          <a:xfrm>
            <a:off x="640080" y="4078224"/>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5" name="Shape 12"/>
          <p:cNvSpPr/>
          <p:nvPr/>
        </p:nvSpPr>
        <p:spPr>
          <a:xfrm>
            <a:off x="868680" y="4297680"/>
            <a:ext cx="402336" cy="402336"/>
          </a:xfrm>
          <a:prstGeom prst="ellipse">
            <a:avLst/>
          </a:prstGeom>
          <a:solidFill>
            <a:srgbClr val="F4C95D"/>
          </a:solidFill>
          <a:ln/>
        </p:spPr>
      </p:sp>
      <p:sp>
        <p:nvSpPr>
          <p:cNvPr id="16" name="Text 13"/>
          <p:cNvSpPr/>
          <p:nvPr/>
        </p:nvSpPr>
        <p:spPr>
          <a:xfrm>
            <a:off x="868680" y="4297680"/>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508760" y="4151376"/>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"My Listings" —  </a:t>
            </a:r>
            <a:r>
              <a:rPr lang="en-US" sz="1200" dirty="0">
                <a:solidFill>
                  <a:srgbClr val="6B7280"/>
                </a:solidFill>
                <a:latin typeface="Calibri" pitchFamily="34" charset="0"/>
                <a:ea typeface="Calibri" pitchFamily="34" charset="-122"/>
                <a:cs typeface="Calibri" pitchFamily="34" charset="-120"/>
              </a:rPr>
              <a:t>GET /mine/:userId returns every listing a seller has ever posted, active and sold, for their own dashboard.</a:t>
            </a:r>
            <a:endParaRPr lang="en-US" sz="1200" dirty="0"/>
          </a:p>
        </p:txBody>
      </p:sp>
      <p:sp>
        <p:nvSpPr>
          <p:cNvPr id="18" name="Text 15"/>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FEATURE</a:t>
            </a:r>
            <a:endParaRPr lang="en-US" sz="1300" dirty="0"/>
          </a:p>
        </p:txBody>
      </p:sp>
      <p:sp>
        <p:nvSpPr>
          <p:cNvPr id="3" name="Text 1"/>
          <p:cNvSpPr/>
          <p:nvPr/>
        </p:nvSpPr>
        <p:spPr>
          <a:xfrm>
            <a:off x="640080" y="749808"/>
            <a:ext cx="777240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Posting a listing, with real photos</a:t>
            </a:r>
            <a:endParaRPr lang="en-US" sz="3200" dirty="0"/>
          </a:p>
        </p:txBody>
      </p:sp>
      <p:sp>
        <p:nvSpPr>
          <p:cNvPr id="4" name="Shape 2"/>
          <p:cNvSpPr/>
          <p:nvPr/>
        </p:nvSpPr>
        <p:spPr>
          <a:xfrm>
            <a:off x="9692640" y="502920"/>
            <a:ext cx="1371600" cy="1371600"/>
          </a:xfrm>
          <a:prstGeom prst="ellipse">
            <a:avLst/>
          </a:prstGeom>
          <a:solidFill>
            <a:srgbClr val="1B1F3B"/>
          </a:solidFill>
          <a:ln/>
        </p:spPr>
      </p:sp>
      <p:pic>
        <p:nvPicPr>
          <p:cNvPr id="5" name="Image 0" descr="/home/claude/work/deck/icons/camera_coral.png"/>
          <p:cNvPicPr>
            <a:picLocks noChangeAspect="1"/>
          </p:cNvPicPr>
          <p:nvPr/>
        </p:nvPicPr>
        <p:blipFill>
          <a:blip r:embed="rId3"/>
          <a:stretch>
            <a:fillRect/>
          </a:stretch>
        </p:blipFill>
        <p:spPr>
          <a:xfrm>
            <a:off x="10058400" y="868680"/>
            <a:ext cx="640080" cy="640080"/>
          </a:xfrm>
          <a:prstGeom prst="rect">
            <a:avLst/>
          </a:prstGeom>
        </p:spPr>
      </p:pic>
      <p:sp>
        <p:nvSpPr>
          <p:cNvPr id="6" name="Shape 3"/>
          <p:cNvSpPr/>
          <p:nvPr/>
        </p:nvSpPr>
        <p:spPr>
          <a:xfrm>
            <a:off x="640080" y="2103120"/>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7" name="Shape 4"/>
          <p:cNvSpPr/>
          <p:nvPr/>
        </p:nvSpPr>
        <p:spPr>
          <a:xfrm>
            <a:off x="868680" y="2322576"/>
            <a:ext cx="402336" cy="402336"/>
          </a:xfrm>
          <a:prstGeom prst="ellipse">
            <a:avLst/>
          </a:prstGeom>
          <a:solidFill>
            <a:srgbClr val="F4C95D"/>
          </a:solidFill>
          <a:ln/>
        </p:spPr>
      </p:sp>
      <p:sp>
        <p:nvSpPr>
          <p:cNvPr id="8" name="Text 5"/>
          <p:cNvSpPr/>
          <p:nvPr/>
        </p:nvSpPr>
        <p:spPr>
          <a:xfrm>
            <a:off x="868680" y="2322576"/>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508760" y="2176272"/>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One multipart POST —  </a:t>
            </a:r>
            <a:r>
              <a:rPr lang="en-US" sz="1200" dirty="0">
                <a:solidFill>
                  <a:srgbClr val="6B7280"/>
                </a:solidFill>
                <a:latin typeface="Calibri" pitchFamily="34" charset="0"/>
                <a:ea typeface="Calibri" pitchFamily="34" charset="-122"/>
                <a:cs typeface="Calibri" pitchFamily="34" charset="-120"/>
              </a:rPr>
              <a:t>title, description, price, category, location and an optional image all land in a single /api/listings call.</a:t>
            </a:r>
            <a:endParaRPr lang="en-US" sz="1200" dirty="0"/>
          </a:p>
        </p:txBody>
      </p:sp>
      <p:sp>
        <p:nvSpPr>
          <p:cNvPr id="10" name="Shape 7"/>
          <p:cNvSpPr/>
          <p:nvPr/>
        </p:nvSpPr>
        <p:spPr>
          <a:xfrm>
            <a:off x="640080" y="3090672"/>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1" name="Shape 8"/>
          <p:cNvSpPr/>
          <p:nvPr/>
        </p:nvSpPr>
        <p:spPr>
          <a:xfrm>
            <a:off x="868680" y="3310128"/>
            <a:ext cx="402336" cy="402336"/>
          </a:xfrm>
          <a:prstGeom prst="ellipse">
            <a:avLst/>
          </a:prstGeom>
          <a:solidFill>
            <a:srgbClr val="F4C95D"/>
          </a:solidFill>
          <a:ln/>
        </p:spPr>
      </p:sp>
      <p:sp>
        <p:nvSpPr>
          <p:cNvPr id="12" name="Text 9"/>
          <p:cNvSpPr/>
          <p:nvPr/>
        </p:nvSpPr>
        <p:spPr>
          <a:xfrm>
            <a:off x="868680" y="3310128"/>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1508760" y="3163824"/>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S3-backed images —  </a:t>
            </a:r>
            <a:r>
              <a:rPr lang="en-US" sz="1200" dirty="0">
                <a:solidFill>
                  <a:srgbClr val="6B7280"/>
                </a:solidFill>
                <a:latin typeface="Calibri" pitchFamily="34" charset="0"/>
                <a:ea typeface="Calibri" pitchFamily="34" charset="-122"/>
                <a:cs typeface="Calibri" pitchFamily="34" charset="-120"/>
              </a:rPr>
              <a:t>multer-s3 streams the photo straight to your bucket; image_url is null (not broken) if no photo is attached.</a:t>
            </a:r>
            <a:endParaRPr lang="en-US" sz="1200" dirty="0"/>
          </a:p>
        </p:txBody>
      </p:sp>
      <p:sp>
        <p:nvSpPr>
          <p:cNvPr id="14" name="Shape 11"/>
          <p:cNvSpPr/>
          <p:nvPr/>
        </p:nvSpPr>
        <p:spPr>
          <a:xfrm>
            <a:off x="640080" y="4078224"/>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5" name="Shape 12"/>
          <p:cNvSpPr/>
          <p:nvPr/>
        </p:nvSpPr>
        <p:spPr>
          <a:xfrm>
            <a:off x="868680" y="4297680"/>
            <a:ext cx="402336" cy="402336"/>
          </a:xfrm>
          <a:prstGeom prst="ellipse">
            <a:avLst/>
          </a:prstGeom>
          <a:solidFill>
            <a:srgbClr val="F4C95D"/>
          </a:solidFill>
          <a:ln/>
        </p:spPr>
      </p:sp>
      <p:sp>
        <p:nvSpPr>
          <p:cNvPr id="16" name="Text 13"/>
          <p:cNvSpPr/>
          <p:nvPr/>
        </p:nvSpPr>
        <p:spPr>
          <a:xfrm>
            <a:off x="868680" y="4297680"/>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508760" y="4151376"/>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Up to 3 pickup spots —  </a:t>
            </a:r>
            <a:r>
              <a:rPr lang="en-US" sz="1200" dirty="0">
                <a:solidFill>
                  <a:srgbClr val="6B7280"/>
                </a:solidFill>
                <a:latin typeface="Calibri" pitchFamily="34" charset="0"/>
                <a:ea typeface="Calibri" pitchFamily="34" charset="-122"/>
                <a:cs typeface="Calibri" pitchFamily="34" charset="-120"/>
              </a:rPr>
              <a:t>sellers can list meeting points for in-person pickup, which buyers choose between at checkout.</a:t>
            </a:r>
            <a:endParaRPr lang="en-US" sz="1200" dirty="0"/>
          </a:p>
        </p:txBody>
      </p:sp>
      <p:sp>
        <p:nvSpPr>
          <p:cNvPr id="18" name="Text 15"/>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4C95D"/>
                </a:solidFill>
                <a:latin typeface="Calibri" pitchFamily="34" charset="0"/>
                <a:ea typeface="Calibri" pitchFamily="34" charset="-122"/>
                <a:cs typeface="Calibri" pitchFamily="34" charset="-120"/>
              </a:rPr>
              <a:t>SIGNATURE FEATURE</a:t>
            </a:r>
            <a:endParaRPr lang="en-US" sz="1300" dirty="0"/>
          </a:p>
        </p:txBody>
      </p:sp>
      <p:sp>
        <p:nvSpPr>
          <p:cNvPr id="3" name="Text 1"/>
          <p:cNvSpPr/>
          <p:nvPr/>
        </p:nvSpPr>
        <p:spPr>
          <a:xfrm>
            <a:off x="640080" y="749808"/>
            <a:ext cx="868680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Real bargaining, inside the chat</a:t>
            </a:r>
            <a:endParaRPr lang="en-US" sz="3200" dirty="0"/>
          </a:p>
        </p:txBody>
      </p:sp>
      <p:pic>
        <p:nvPicPr>
          <p:cNvPr id="4" name="Image 0" descr="/home/claude/work/deck/icons/handshake_gold.png"/>
          <p:cNvPicPr>
            <a:picLocks noChangeAspect="1"/>
          </p:cNvPicPr>
          <p:nvPr/>
        </p:nvPicPr>
        <p:blipFill>
          <a:blip r:embed="rId3"/>
          <a:stretch>
            <a:fillRect/>
          </a:stretch>
        </p:blipFill>
        <p:spPr>
          <a:xfrm>
            <a:off x="10149840" y="548640"/>
            <a:ext cx="822960" cy="822960"/>
          </a:xfrm>
          <a:prstGeom prst="rect">
            <a:avLst/>
          </a:prstGeom>
        </p:spPr>
      </p:pic>
      <p:sp>
        <p:nvSpPr>
          <p:cNvPr id="5" name="Shape 2"/>
          <p:cNvSpPr/>
          <p:nvPr/>
        </p:nvSpPr>
        <p:spPr>
          <a:xfrm>
            <a:off x="640080" y="2286000"/>
            <a:ext cx="2606040" cy="3291840"/>
          </a:xfrm>
          <a:prstGeom prst="roundRect">
            <a:avLst>
              <a:gd name="adj" fmla="val 3509"/>
            </a:avLst>
          </a:prstGeom>
          <a:solidFill>
            <a:srgbClr val="272C52"/>
          </a:solidFill>
          <a:ln/>
        </p:spPr>
      </p:sp>
      <p:sp>
        <p:nvSpPr>
          <p:cNvPr id="6" name="Text 3"/>
          <p:cNvSpPr/>
          <p:nvPr/>
        </p:nvSpPr>
        <p:spPr>
          <a:xfrm>
            <a:off x="841248" y="2514600"/>
            <a:ext cx="2203704" cy="640080"/>
          </a:xfrm>
          <a:prstGeom prst="rect">
            <a:avLst/>
          </a:prstGeom>
          <a:noFill/>
          <a:ln/>
        </p:spPr>
        <p:txBody>
          <a:bodyPr wrap="square" lIns="0" tIns="0" rIns="0" bIns="0" rtlCol="0" anchor="ctr"/>
          <a:lstStyle/>
          <a:p>
            <a:pPr marL="0" indent="0">
              <a:lnSpc>
                <a:spcPts val="1700"/>
              </a:lnSpc>
              <a:buNone/>
            </a:pPr>
            <a:r>
              <a:rPr lang="en-US" sz="1450" b="1" dirty="0">
                <a:solidFill>
                  <a:srgbClr val="F4C95D"/>
                </a:solidFill>
                <a:latin typeface="Cambria" pitchFamily="34" charset="0"/>
                <a:ea typeface="Cambria" pitchFamily="34" charset="-122"/>
                <a:cs typeface="Cambria" pitchFamily="34" charset="-120"/>
              </a:rPr>
              <a:t>1. Buyer sends an offer</a:t>
            </a:r>
            <a:endParaRPr lang="en-US" sz="1450" dirty="0"/>
          </a:p>
        </p:txBody>
      </p:sp>
      <p:sp>
        <p:nvSpPr>
          <p:cNvPr id="7" name="Text 4"/>
          <p:cNvSpPr/>
          <p:nvPr/>
        </p:nvSpPr>
        <p:spPr>
          <a:xfrm>
            <a:off x="841248" y="3246120"/>
            <a:ext cx="2203704" cy="2148840"/>
          </a:xfrm>
          <a:prstGeom prst="rect">
            <a:avLst/>
          </a:prstGeom>
          <a:noFill/>
          <a:ln/>
        </p:spPr>
        <p:txBody>
          <a:bodyPr wrap="square" lIns="0" tIns="0" rIns="0" bIns="0" rtlCol="0" anchor="ctr"/>
          <a:lstStyle/>
          <a:p>
            <a:pPr marL="0" indent="0">
              <a:lnSpc>
                <a:spcPts val="1500"/>
              </a:lnSpc>
              <a:buNone/>
            </a:pPr>
            <a:r>
              <a:rPr lang="en-US" sz="1100" dirty="0">
                <a:solidFill>
                  <a:srgbClr val="D7D9E4"/>
                </a:solidFill>
                <a:latin typeface="Calibri" pitchFamily="34" charset="0"/>
                <a:ea typeface="Calibri" pitchFamily="34" charset="-122"/>
                <a:cs typeface="Calibri" pitchFamily="34" charset="-120"/>
              </a:rPr>
              <a:t>Chat message carries type: "offer" and an amount — stored as its own message in MongoDB with status "pending".</a:t>
            </a:r>
            <a:endParaRPr lang="en-US" sz="1100" dirty="0"/>
          </a:p>
        </p:txBody>
      </p:sp>
      <p:sp>
        <p:nvSpPr>
          <p:cNvPr id="8" name="Text 5"/>
          <p:cNvSpPr/>
          <p:nvPr/>
        </p:nvSpPr>
        <p:spPr>
          <a:xfrm>
            <a:off x="3200400" y="3657600"/>
            <a:ext cx="320040" cy="457200"/>
          </a:xfrm>
          <a:prstGeom prst="rect">
            <a:avLst/>
          </a:prstGeom>
          <a:noFill/>
          <a:ln/>
        </p:spPr>
        <p:txBody>
          <a:bodyPr wrap="square" rtlCol="0" anchor="ctr"/>
          <a:lstStyle/>
          <a:p>
            <a:pPr marL="0" indent="0" algn="ctr">
              <a:buNone/>
            </a:pPr>
            <a:r>
              <a:rPr lang="en-US" sz="1800" b="1" dirty="0">
                <a:solidFill>
                  <a:srgbClr val="FF6F59"/>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3447288" y="2286000"/>
            <a:ext cx="2606040" cy="3291840"/>
          </a:xfrm>
          <a:prstGeom prst="roundRect">
            <a:avLst>
              <a:gd name="adj" fmla="val 3509"/>
            </a:avLst>
          </a:prstGeom>
          <a:solidFill>
            <a:srgbClr val="272C52"/>
          </a:solidFill>
          <a:ln/>
        </p:spPr>
      </p:sp>
      <p:sp>
        <p:nvSpPr>
          <p:cNvPr id="10" name="Text 7"/>
          <p:cNvSpPr/>
          <p:nvPr/>
        </p:nvSpPr>
        <p:spPr>
          <a:xfrm>
            <a:off x="3648456" y="2514600"/>
            <a:ext cx="2203704" cy="640080"/>
          </a:xfrm>
          <a:prstGeom prst="rect">
            <a:avLst/>
          </a:prstGeom>
          <a:noFill/>
          <a:ln/>
        </p:spPr>
        <p:txBody>
          <a:bodyPr wrap="square" lIns="0" tIns="0" rIns="0" bIns="0" rtlCol="0" anchor="ctr"/>
          <a:lstStyle/>
          <a:p>
            <a:pPr marL="0" indent="0">
              <a:lnSpc>
                <a:spcPts val="1700"/>
              </a:lnSpc>
              <a:buNone/>
            </a:pPr>
            <a:r>
              <a:rPr lang="en-US" sz="1450" b="1" dirty="0">
                <a:solidFill>
                  <a:srgbClr val="F4C95D"/>
                </a:solidFill>
                <a:latin typeface="Cambria" pitchFamily="34" charset="0"/>
                <a:ea typeface="Cambria" pitchFamily="34" charset="-122"/>
                <a:cs typeface="Cambria" pitchFamily="34" charset="-120"/>
              </a:rPr>
              <a:t>2. Seller responds</a:t>
            </a:r>
            <a:endParaRPr lang="en-US" sz="1450" dirty="0"/>
          </a:p>
        </p:txBody>
      </p:sp>
      <p:sp>
        <p:nvSpPr>
          <p:cNvPr id="11" name="Text 8"/>
          <p:cNvSpPr/>
          <p:nvPr/>
        </p:nvSpPr>
        <p:spPr>
          <a:xfrm>
            <a:off x="3648456" y="3246120"/>
            <a:ext cx="2203704" cy="2148840"/>
          </a:xfrm>
          <a:prstGeom prst="rect">
            <a:avLst/>
          </a:prstGeom>
          <a:noFill/>
          <a:ln/>
        </p:spPr>
        <p:txBody>
          <a:bodyPr wrap="square" lIns="0" tIns="0" rIns="0" bIns="0" rtlCol="0" anchor="ctr"/>
          <a:lstStyle/>
          <a:p>
            <a:pPr marL="0" indent="0">
              <a:lnSpc>
                <a:spcPts val="1500"/>
              </a:lnSpc>
              <a:buNone/>
            </a:pPr>
            <a:r>
              <a:rPr lang="en-US" sz="1100" dirty="0">
                <a:solidFill>
                  <a:srgbClr val="D7D9E4"/>
                </a:solidFill>
                <a:latin typeface="Calibri" pitchFamily="34" charset="0"/>
                <a:ea typeface="Calibri" pitchFamily="34" charset="-122"/>
                <a:cs typeface="Calibri" pitchFamily="34" charset="-120"/>
              </a:rPr>
              <a:t>PATCH /messages/:id/respond flips the offer to "accepted" or "rejected". A message can only be answered once.</a:t>
            </a:r>
            <a:endParaRPr lang="en-US" sz="1100" dirty="0"/>
          </a:p>
        </p:txBody>
      </p:sp>
      <p:sp>
        <p:nvSpPr>
          <p:cNvPr id="12" name="Text 9"/>
          <p:cNvSpPr/>
          <p:nvPr/>
        </p:nvSpPr>
        <p:spPr>
          <a:xfrm>
            <a:off x="6007608" y="3657600"/>
            <a:ext cx="320040" cy="457200"/>
          </a:xfrm>
          <a:prstGeom prst="rect">
            <a:avLst/>
          </a:prstGeom>
          <a:noFill/>
          <a:ln/>
        </p:spPr>
        <p:txBody>
          <a:bodyPr wrap="square" rtlCol="0" anchor="ctr"/>
          <a:lstStyle/>
          <a:p>
            <a:pPr marL="0" indent="0" algn="ctr">
              <a:buNone/>
            </a:pPr>
            <a:r>
              <a:rPr lang="en-US" sz="1800" b="1" dirty="0">
                <a:solidFill>
                  <a:srgbClr val="FF6F59"/>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6254496" y="2286000"/>
            <a:ext cx="2606040" cy="3291840"/>
          </a:xfrm>
          <a:prstGeom prst="roundRect">
            <a:avLst>
              <a:gd name="adj" fmla="val 3509"/>
            </a:avLst>
          </a:prstGeom>
          <a:solidFill>
            <a:srgbClr val="272C52"/>
          </a:solidFill>
          <a:ln/>
        </p:spPr>
      </p:sp>
      <p:sp>
        <p:nvSpPr>
          <p:cNvPr id="14" name="Text 11"/>
          <p:cNvSpPr/>
          <p:nvPr/>
        </p:nvSpPr>
        <p:spPr>
          <a:xfrm>
            <a:off x="6455664" y="2514600"/>
            <a:ext cx="2203704" cy="640080"/>
          </a:xfrm>
          <a:prstGeom prst="rect">
            <a:avLst/>
          </a:prstGeom>
          <a:noFill/>
          <a:ln/>
        </p:spPr>
        <p:txBody>
          <a:bodyPr wrap="square" lIns="0" tIns="0" rIns="0" bIns="0" rtlCol="0" anchor="ctr"/>
          <a:lstStyle/>
          <a:p>
            <a:pPr marL="0" indent="0">
              <a:lnSpc>
                <a:spcPts val="1700"/>
              </a:lnSpc>
              <a:buNone/>
            </a:pPr>
            <a:r>
              <a:rPr lang="en-US" sz="1450" b="1" dirty="0">
                <a:solidFill>
                  <a:srgbClr val="F4C95D"/>
                </a:solidFill>
                <a:latin typeface="Cambria" pitchFamily="34" charset="0"/>
                <a:ea typeface="Cambria" pitchFamily="34" charset="-122"/>
                <a:cs typeface="Cambria" pitchFamily="34" charset="-120"/>
              </a:rPr>
              <a:t>3. Price is recorded</a:t>
            </a:r>
            <a:endParaRPr lang="en-US" sz="1450" dirty="0"/>
          </a:p>
        </p:txBody>
      </p:sp>
      <p:sp>
        <p:nvSpPr>
          <p:cNvPr id="15" name="Text 12"/>
          <p:cNvSpPr/>
          <p:nvPr/>
        </p:nvSpPr>
        <p:spPr>
          <a:xfrm>
            <a:off x="6455664" y="3246120"/>
            <a:ext cx="2203704" cy="2148840"/>
          </a:xfrm>
          <a:prstGeom prst="rect">
            <a:avLst/>
          </a:prstGeom>
          <a:noFill/>
          <a:ln/>
        </p:spPr>
        <p:txBody>
          <a:bodyPr wrap="square" lIns="0" tIns="0" rIns="0" bIns="0" rtlCol="0" anchor="ctr"/>
          <a:lstStyle/>
          <a:p>
            <a:pPr marL="0" indent="0">
              <a:lnSpc>
                <a:spcPts val="1500"/>
              </a:lnSpc>
              <a:buNone/>
            </a:pPr>
            <a:r>
              <a:rPr lang="en-US" sz="1100" dirty="0">
                <a:solidFill>
                  <a:srgbClr val="D7D9E4"/>
                </a:solidFill>
                <a:latin typeface="Calibri" pitchFamily="34" charset="0"/>
                <a:ea typeface="Calibri" pitchFamily="34" charset="-122"/>
                <a:cs typeface="Calibri" pitchFamily="34" charset="-120"/>
              </a:rPr>
              <a:t>On accept, the frontend calls listing-service to write a one-off negotiated_prices row for that specific buyer only.</a:t>
            </a:r>
            <a:endParaRPr lang="en-US" sz="1100" dirty="0"/>
          </a:p>
        </p:txBody>
      </p:sp>
      <p:sp>
        <p:nvSpPr>
          <p:cNvPr id="16" name="Text 13"/>
          <p:cNvSpPr/>
          <p:nvPr/>
        </p:nvSpPr>
        <p:spPr>
          <a:xfrm>
            <a:off x="8814816" y="3657600"/>
            <a:ext cx="320040" cy="457200"/>
          </a:xfrm>
          <a:prstGeom prst="rect">
            <a:avLst/>
          </a:prstGeom>
          <a:noFill/>
          <a:ln/>
        </p:spPr>
        <p:txBody>
          <a:bodyPr wrap="square" rtlCol="0" anchor="ctr"/>
          <a:lstStyle/>
          <a:p>
            <a:pPr marL="0" indent="0" algn="ctr">
              <a:buNone/>
            </a:pPr>
            <a:r>
              <a:rPr lang="en-US" sz="1800" b="1" dirty="0">
                <a:solidFill>
                  <a:srgbClr val="FF6F59"/>
                </a:solidFill>
                <a:latin typeface="Calibri" pitchFamily="34" charset="0"/>
                <a:ea typeface="Calibri" pitchFamily="34" charset="-122"/>
                <a:cs typeface="Calibri" pitchFamily="34" charset="-120"/>
              </a:rPr>
              <a:t>→</a:t>
            </a:r>
            <a:endParaRPr lang="en-US" sz="1800" dirty="0"/>
          </a:p>
        </p:txBody>
      </p:sp>
      <p:sp>
        <p:nvSpPr>
          <p:cNvPr id="17" name="Shape 14"/>
          <p:cNvSpPr/>
          <p:nvPr/>
        </p:nvSpPr>
        <p:spPr>
          <a:xfrm>
            <a:off x="9061704" y="2286000"/>
            <a:ext cx="2606040" cy="3291840"/>
          </a:xfrm>
          <a:prstGeom prst="roundRect">
            <a:avLst>
              <a:gd name="adj" fmla="val 3509"/>
            </a:avLst>
          </a:prstGeom>
          <a:solidFill>
            <a:srgbClr val="272C52"/>
          </a:solidFill>
          <a:ln/>
        </p:spPr>
      </p:sp>
      <p:sp>
        <p:nvSpPr>
          <p:cNvPr id="18" name="Text 15"/>
          <p:cNvSpPr/>
          <p:nvPr/>
        </p:nvSpPr>
        <p:spPr>
          <a:xfrm>
            <a:off x="9262872" y="2514600"/>
            <a:ext cx="2203704" cy="640080"/>
          </a:xfrm>
          <a:prstGeom prst="rect">
            <a:avLst/>
          </a:prstGeom>
          <a:noFill/>
          <a:ln/>
        </p:spPr>
        <p:txBody>
          <a:bodyPr wrap="square" lIns="0" tIns="0" rIns="0" bIns="0" rtlCol="0" anchor="ctr"/>
          <a:lstStyle/>
          <a:p>
            <a:pPr marL="0" indent="0">
              <a:lnSpc>
                <a:spcPts val="1700"/>
              </a:lnSpc>
              <a:buNone/>
            </a:pPr>
            <a:r>
              <a:rPr lang="en-US" sz="1450" b="1" dirty="0">
                <a:solidFill>
                  <a:srgbClr val="F4C95D"/>
                </a:solidFill>
                <a:latin typeface="Cambria" pitchFamily="34" charset="0"/>
                <a:ea typeface="Cambria" pitchFamily="34" charset="-122"/>
                <a:cs typeface="Cambria" pitchFamily="34" charset="-120"/>
              </a:rPr>
              <a:t>4. Checkout honors it</a:t>
            </a:r>
            <a:endParaRPr lang="en-US" sz="1450" dirty="0"/>
          </a:p>
        </p:txBody>
      </p:sp>
      <p:sp>
        <p:nvSpPr>
          <p:cNvPr id="19" name="Text 16"/>
          <p:cNvSpPr/>
          <p:nvPr/>
        </p:nvSpPr>
        <p:spPr>
          <a:xfrm>
            <a:off x="9262872" y="3246120"/>
            <a:ext cx="2203704" cy="2148840"/>
          </a:xfrm>
          <a:prstGeom prst="rect">
            <a:avLst/>
          </a:prstGeom>
          <a:noFill/>
          <a:ln/>
        </p:spPr>
        <p:txBody>
          <a:bodyPr wrap="square" lIns="0" tIns="0" rIns="0" bIns="0" rtlCol="0" anchor="ctr"/>
          <a:lstStyle/>
          <a:p>
            <a:pPr marL="0" indent="0">
              <a:lnSpc>
                <a:spcPts val="1500"/>
              </a:lnSpc>
              <a:buNone/>
            </a:pPr>
            <a:r>
              <a:rPr lang="en-US" sz="1100" dirty="0">
                <a:solidFill>
                  <a:srgbClr val="D7D9E4"/>
                </a:solidFill>
                <a:latin typeface="Calibri" pitchFamily="34" charset="0"/>
                <a:ea typeface="Calibri" pitchFamily="34" charset="-122"/>
                <a:cs typeface="Calibri" pitchFamily="34" charset="-120"/>
              </a:rPr>
              <a:t>That buyer's checkout price becomes the negotiated amount — every other buyer still sees the normal listing price.</a:t>
            </a:r>
            <a:endParaRPr lang="en-US" sz="1100" dirty="0"/>
          </a:p>
        </p:txBody>
      </p:sp>
      <p:sp>
        <p:nvSpPr>
          <p:cNvPr id="20" name="Text 17"/>
          <p:cNvSpPr/>
          <p:nvPr/>
        </p:nvSpPr>
        <p:spPr>
          <a:xfrm>
            <a:off x="640080" y="5806440"/>
            <a:ext cx="10881360" cy="365760"/>
          </a:xfrm>
          <a:prstGeom prst="rect">
            <a:avLst/>
          </a:prstGeom>
          <a:noFill/>
          <a:ln/>
        </p:spPr>
        <p:txBody>
          <a:bodyPr wrap="square" rtlCol="0" anchor="ctr"/>
          <a:lstStyle/>
          <a:p>
            <a:pPr marL="0" indent="0">
              <a:buNone/>
            </a:pPr>
            <a:r>
              <a:rPr lang="en-US" sz="1100" i="1" dirty="0">
                <a:solidFill>
                  <a:srgbClr val="9498B0"/>
                </a:solidFill>
                <a:latin typeface="Calibri" pitchFamily="34" charset="0"/>
                <a:ea typeface="Calibri" pitchFamily="34" charset="-122"/>
                <a:cs typeface="Calibri" pitchFamily="34" charset="-120"/>
              </a:rPr>
              <a:t>Every buyer can negotiate independently — the listing's public price never changes for anyone else.</a:t>
            </a:r>
            <a:endParaRPr lang="en-US" sz="1100" dirty="0"/>
          </a:p>
        </p:txBody>
      </p:sp>
      <p:sp>
        <p:nvSpPr>
          <p:cNvPr id="21" name="Text 18"/>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FFFFFF">
                    <a:alpha val="60000"/>
                  </a:srgbClr>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FEATURE</a:t>
            </a:r>
            <a:endParaRPr lang="en-US" sz="1300" dirty="0"/>
          </a:p>
        </p:txBody>
      </p:sp>
      <p:sp>
        <p:nvSpPr>
          <p:cNvPr id="3" name="Text 1"/>
          <p:cNvSpPr/>
          <p:nvPr/>
        </p:nvSpPr>
        <p:spPr>
          <a:xfrm>
            <a:off x="640080" y="749808"/>
            <a:ext cx="777240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Cart &amp; wishlist</a:t>
            </a:r>
            <a:endParaRPr lang="en-US" sz="3200" dirty="0"/>
          </a:p>
        </p:txBody>
      </p:sp>
      <p:sp>
        <p:nvSpPr>
          <p:cNvPr id="4" name="Shape 2"/>
          <p:cNvSpPr/>
          <p:nvPr/>
        </p:nvSpPr>
        <p:spPr>
          <a:xfrm>
            <a:off x="9692640" y="502920"/>
            <a:ext cx="1371600" cy="1371600"/>
          </a:xfrm>
          <a:prstGeom prst="ellipse">
            <a:avLst/>
          </a:prstGeom>
          <a:solidFill>
            <a:srgbClr val="1B1F3B"/>
          </a:solidFill>
          <a:ln/>
        </p:spPr>
      </p:sp>
      <p:pic>
        <p:nvPicPr>
          <p:cNvPr id="5" name="Image 0" descr="/home/claude/work/deck/icons/cart_coral.png"/>
          <p:cNvPicPr>
            <a:picLocks noChangeAspect="1"/>
          </p:cNvPicPr>
          <p:nvPr/>
        </p:nvPicPr>
        <p:blipFill>
          <a:blip r:embed="rId3"/>
          <a:stretch>
            <a:fillRect/>
          </a:stretch>
        </p:blipFill>
        <p:spPr>
          <a:xfrm>
            <a:off x="10058400" y="868680"/>
            <a:ext cx="640080" cy="640080"/>
          </a:xfrm>
          <a:prstGeom prst="rect">
            <a:avLst/>
          </a:prstGeom>
        </p:spPr>
      </p:pic>
      <p:sp>
        <p:nvSpPr>
          <p:cNvPr id="6" name="Shape 3"/>
          <p:cNvSpPr/>
          <p:nvPr/>
        </p:nvSpPr>
        <p:spPr>
          <a:xfrm>
            <a:off x="640080" y="2103120"/>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7" name="Shape 4"/>
          <p:cNvSpPr/>
          <p:nvPr/>
        </p:nvSpPr>
        <p:spPr>
          <a:xfrm>
            <a:off x="868680" y="2322576"/>
            <a:ext cx="402336" cy="402336"/>
          </a:xfrm>
          <a:prstGeom prst="ellipse">
            <a:avLst/>
          </a:prstGeom>
          <a:solidFill>
            <a:srgbClr val="F4C95D"/>
          </a:solidFill>
          <a:ln/>
        </p:spPr>
      </p:sp>
      <p:sp>
        <p:nvSpPr>
          <p:cNvPr id="8" name="Text 5"/>
          <p:cNvSpPr/>
          <p:nvPr/>
        </p:nvSpPr>
        <p:spPr>
          <a:xfrm>
            <a:off x="868680" y="2322576"/>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508760" y="2176272"/>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Save for later —  </a:t>
            </a:r>
            <a:r>
              <a:rPr lang="en-US" sz="1200" dirty="0">
                <a:solidFill>
                  <a:srgbClr val="6B7280"/>
                </a:solidFill>
                <a:latin typeface="Calibri" pitchFamily="34" charset="0"/>
                <a:ea typeface="Calibri" pitchFamily="34" charset="-122"/>
                <a:cs typeface="Calibri" pitchFamily="34" charset="-120"/>
              </a:rPr>
              <a:t>a ☆ button on every listing adds it to a per-user wishlist, kept separate from the buy-now cart.</a:t>
            </a:r>
            <a:endParaRPr lang="en-US" sz="1200" dirty="0"/>
          </a:p>
        </p:txBody>
      </p:sp>
      <p:sp>
        <p:nvSpPr>
          <p:cNvPr id="10" name="Shape 7"/>
          <p:cNvSpPr/>
          <p:nvPr/>
        </p:nvSpPr>
        <p:spPr>
          <a:xfrm>
            <a:off x="640080" y="3090672"/>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1" name="Shape 8"/>
          <p:cNvSpPr/>
          <p:nvPr/>
        </p:nvSpPr>
        <p:spPr>
          <a:xfrm>
            <a:off x="868680" y="3310128"/>
            <a:ext cx="402336" cy="402336"/>
          </a:xfrm>
          <a:prstGeom prst="ellipse">
            <a:avLst/>
          </a:prstGeom>
          <a:solidFill>
            <a:srgbClr val="F4C95D"/>
          </a:solidFill>
          <a:ln/>
        </p:spPr>
      </p:sp>
      <p:sp>
        <p:nvSpPr>
          <p:cNvPr id="12" name="Text 9"/>
          <p:cNvSpPr/>
          <p:nvPr/>
        </p:nvSpPr>
        <p:spPr>
          <a:xfrm>
            <a:off x="868680" y="3310128"/>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1508760" y="3163824"/>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Multi-item cart —  </a:t>
            </a:r>
            <a:r>
              <a:rPr lang="en-US" sz="1200" dirty="0">
                <a:solidFill>
                  <a:srgbClr val="6B7280"/>
                </a:solidFill>
                <a:latin typeface="Calibri" pitchFamily="34" charset="0"/>
                <a:ea typeface="Calibri" pitchFamily="34" charset="-122"/>
                <a:cs typeface="Calibri" pitchFamily="34" charset="-120"/>
              </a:rPr>
              <a:t>adding to cart clears the "saved" state; POST /checkout/cart takes an array of listingIds and charges them in one Stripe session.</a:t>
            </a:r>
            <a:endParaRPr lang="en-US" sz="1200" dirty="0"/>
          </a:p>
        </p:txBody>
      </p:sp>
      <p:sp>
        <p:nvSpPr>
          <p:cNvPr id="14" name="Shape 11"/>
          <p:cNvSpPr/>
          <p:nvPr/>
        </p:nvSpPr>
        <p:spPr>
          <a:xfrm>
            <a:off x="640080" y="4078224"/>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5" name="Shape 12"/>
          <p:cNvSpPr/>
          <p:nvPr/>
        </p:nvSpPr>
        <p:spPr>
          <a:xfrm>
            <a:off x="868680" y="4297680"/>
            <a:ext cx="402336" cy="402336"/>
          </a:xfrm>
          <a:prstGeom prst="ellipse">
            <a:avLst/>
          </a:prstGeom>
          <a:solidFill>
            <a:srgbClr val="F4C95D"/>
          </a:solidFill>
          <a:ln/>
        </p:spPr>
      </p:sp>
      <p:sp>
        <p:nvSpPr>
          <p:cNvPr id="16" name="Text 13"/>
          <p:cNvSpPr/>
          <p:nvPr/>
        </p:nvSpPr>
        <p:spPr>
          <a:xfrm>
            <a:off x="868680" y="4297680"/>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508760" y="4151376"/>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Per-user, client-side state —  </a:t>
            </a:r>
            <a:r>
              <a:rPr lang="en-US" sz="1200" dirty="0">
                <a:solidFill>
                  <a:srgbClr val="6B7280"/>
                </a:solidFill>
                <a:latin typeface="Calibri" pitchFamily="34" charset="0"/>
                <a:ea typeface="Calibri" pitchFamily="34" charset="-122"/>
                <a:cs typeface="Calibri" pitchFamily="34" charset="-120"/>
              </a:rPr>
              <a:t>cart/wishlist are keyed by user id in the browser, so each account keeps its own list.</a:t>
            </a:r>
            <a:endParaRPr lang="en-US" sz="1200" dirty="0"/>
          </a:p>
        </p:txBody>
      </p:sp>
      <p:sp>
        <p:nvSpPr>
          <p:cNvPr id="18" name="Text 15"/>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FEATURE</a:t>
            </a:r>
            <a:endParaRPr lang="en-US" sz="1300" dirty="0"/>
          </a:p>
        </p:txBody>
      </p:sp>
      <p:sp>
        <p:nvSpPr>
          <p:cNvPr id="3" name="Text 1"/>
          <p:cNvSpPr/>
          <p:nvPr/>
        </p:nvSpPr>
        <p:spPr>
          <a:xfrm>
            <a:off x="640080" y="749808"/>
            <a:ext cx="777240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Checkout, delivery &amp; orders</a:t>
            </a:r>
            <a:endParaRPr lang="en-US" sz="3200" dirty="0"/>
          </a:p>
        </p:txBody>
      </p:sp>
      <p:sp>
        <p:nvSpPr>
          <p:cNvPr id="4" name="Shape 2"/>
          <p:cNvSpPr/>
          <p:nvPr/>
        </p:nvSpPr>
        <p:spPr>
          <a:xfrm>
            <a:off x="9692640" y="502920"/>
            <a:ext cx="1371600" cy="1371600"/>
          </a:xfrm>
          <a:prstGeom prst="ellipse">
            <a:avLst/>
          </a:prstGeom>
          <a:solidFill>
            <a:srgbClr val="1B1F3B"/>
          </a:solidFill>
          <a:ln/>
        </p:spPr>
      </p:sp>
      <p:pic>
        <p:nvPicPr>
          <p:cNvPr id="5" name="Image 0" descr="/home/claude/work/deck/icons/card_coral.png"/>
          <p:cNvPicPr>
            <a:picLocks noChangeAspect="1"/>
          </p:cNvPicPr>
          <p:nvPr/>
        </p:nvPicPr>
        <p:blipFill>
          <a:blip r:embed="rId3"/>
          <a:stretch>
            <a:fillRect/>
          </a:stretch>
        </p:blipFill>
        <p:spPr>
          <a:xfrm>
            <a:off x="10058400" y="868680"/>
            <a:ext cx="640080" cy="640080"/>
          </a:xfrm>
          <a:prstGeom prst="rect">
            <a:avLst/>
          </a:prstGeom>
        </p:spPr>
      </p:pic>
      <p:sp>
        <p:nvSpPr>
          <p:cNvPr id="6" name="Shape 3"/>
          <p:cNvSpPr/>
          <p:nvPr/>
        </p:nvSpPr>
        <p:spPr>
          <a:xfrm>
            <a:off x="640080" y="2103120"/>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7" name="Shape 4"/>
          <p:cNvSpPr/>
          <p:nvPr/>
        </p:nvSpPr>
        <p:spPr>
          <a:xfrm>
            <a:off x="868680" y="2322576"/>
            <a:ext cx="402336" cy="402336"/>
          </a:xfrm>
          <a:prstGeom prst="ellipse">
            <a:avLst/>
          </a:prstGeom>
          <a:solidFill>
            <a:srgbClr val="F4C95D"/>
          </a:solidFill>
          <a:ln/>
        </p:spPr>
      </p:sp>
      <p:sp>
        <p:nvSpPr>
          <p:cNvPr id="8" name="Text 5"/>
          <p:cNvSpPr/>
          <p:nvPr/>
        </p:nvSpPr>
        <p:spPr>
          <a:xfrm>
            <a:off x="868680" y="2322576"/>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1</a:t>
            </a:r>
            <a:endParaRPr lang="en-US" sz="1500" dirty="0"/>
          </a:p>
        </p:txBody>
      </p:sp>
      <p:sp>
        <p:nvSpPr>
          <p:cNvPr id="9" name="Text 6"/>
          <p:cNvSpPr/>
          <p:nvPr/>
        </p:nvSpPr>
        <p:spPr>
          <a:xfrm>
            <a:off x="1508760" y="2176272"/>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Delivery or pickup —  </a:t>
            </a:r>
            <a:r>
              <a:rPr lang="en-US" sz="1200" dirty="0">
                <a:solidFill>
                  <a:srgbClr val="6B7280"/>
                </a:solidFill>
                <a:latin typeface="Calibri" pitchFamily="34" charset="0"/>
                <a:ea typeface="Calibri" pitchFamily="34" charset="-122"/>
                <a:cs typeface="Calibri" pitchFamily="34" charset="-120"/>
              </a:rPr>
              <a:t>buyers choose "deliver" (needs an address) or "pick up myself" (must match one of the seller's 3 listed spots).</a:t>
            </a:r>
            <a:endParaRPr lang="en-US" sz="1200" dirty="0"/>
          </a:p>
        </p:txBody>
      </p:sp>
      <p:sp>
        <p:nvSpPr>
          <p:cNvPr id="10" name="Shape 7"/>
          <p:cNvSpPr/>
          <p:nvPr/>
        </p:nvSpPr>
        <p:spPr>
          <a:xfrm>
            <a:off x="640080" y="3090672"/>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1" name="Shape 8"/>
          <p:cNvSpPr/>
          <p:nvPr/>
        </p:nvSpPr>
        <p:spPr>
          <a:xfrm>
            <a:off x="868680" y="3310128"/>
            <a:ext cx="402336" cy="402336"/>
          </a:xfrm>
          <a:prstGeom prst="ellipse">
            <a:avLst/>
          </a:prstGeom>
          <a:solidFill>
            <a:srgbClr val="F4C95D"/>
          </a:solidFill>
          <a:ln/>
        </p:spPr>
      </p:sp>
      <p:sp>
        <p:nvSpPr>
          <p:cNvPr id="12" name="Text 9"/>
          <p:cNvSpPr/>
          <p:nvPr/>
        </p:nvSpPr>
        <p:spPr>
          <a:xfrm>
            <a:off x="868680" y="3310128"/>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1508760" y="3163824"/>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Stripe-hosted payment —  </a:t>
            </a:r>
            <a:r>
              <a:rPr lang="en-US" sz="1200" dirty="0">
                <a:solidFill>
                  <a:srgbClr val="6B7280"/>
                </a:solidFill>
                <a:latin typeface="Calibri" pitchFamily="34" charset="0"/>
                <a:ea typeface="Calibri" pitchFamily="34" charset="-122"/>
                <a:cs typeface="Calibri" pitchFamily="34" charset="-120"/>
              </a:rPr>
              <a:t>a Checkout Session is created server-side; the frontend just redirects to session.url — no card data touches this app.</a:t>
            </a:r>
            <a:endParaRPr lang="en-US" sz="1200" dirty="0"/>
          </a:p>
        </p:txBody>
      </p:sp>
      <p:sp>
        <p:nvSpPr>
          <p:cNvPr id="14" name="Shape 11"/>
          <p:cNvSpPr/>
          <p:nvPr/>
        </p:nvSpPr>
        <p:spPr>
          <a:xfrm>
            <a:off x="640080" y="4078224"/>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5" name="Shape 12"/>
          <p:cNvSpPr/>
          <p:nvPr/>
        </p:nvSpPr>
        <p:spPr>
          <a:xfrm>
            <a:off x="868680" y="4297680"/>
            <a:ext cx="402336" cy="402336"/>
          </a:xfrm>
          <a:prstGeom prst="ellipse">
            <a:avLst/>
          </a:prstGeom>
          <a:solidFill>
            <a:srgbClr val="F4C95D"/>
          </a:solidFill>
          <a:ln/>
        </p:spPr>
      </p:sp>
      <p:sp>
        <p:nvSpPr>
          <p:cNvPr id="16" name="Text 13"/>
          <p:cNvSpPr/>
          <p:nvPr/>
        </p:nvSpPr>
        <p:spPr>
          <a:xfrm>
            <a:off x="868680" y="4297680"/>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3</a:t>
            </a:r>
            <a:endParaRPr lang="en-US" sz="1500" dirty="0"/>
          </a:p>
        </p:txBody>
      </p:sp>
      <p:sp>
        <p:nvSpPr>
          <p:cNvPr id="17" name="Text 14"/>
          <p:cNvSpPr/>
          <p:nvPr/>
        </p:nvSpPr>
        <p:spPr>
          <a:xfrm>
            <a:off x="1508760" y="4151376"/>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Confirm &amp; mark sold —  </a:t>
            </a:r>
            <a:r>
              <a:rPr lang="en-US" sz="1200" dirty="0">
                <a:solidFill>
                  <a:srgbClr val="6B7280"/>
                </a:solidFill>
                <a:latin typeface="Calibri" pitchFamily="34" charset="0"/>
                <a:ea typeface="Calibri" pitchFamily="34" charset="-122"/>
                <a:cs typeface="Calibri" pitchFamily="34" charset="-120"/>
              </a:rPr>
              <a:t>/orders/confirm re-verifies payment_status with Stripe before flipping orders to "paid" and listings to is_sold.</a:t>
            </a:r>
            <a:endParaRPr lang="en-US" sz="1200" dirty="0"/>
          </a:p>
        </p:txBody>
      </p:sp>
      <p:sp>
        <p:nvSpPr>
          <p:cNvPr id="18" name="Shape 15"/>
          <p:cNvSpPr/>
          <p:nvPr/>
        </p:nvSpPr>
        <p:spPr>
          <a:xfrm>
            <a:off x="640080" y="5065776"/>
            <a:ext cx="10881360" cy="841248"/>
          </a:xfrm>
          <a:prstGeom prst="roundRect">
            <a:avLst>
              <a:gd name="adj" fmla="val 8696"/>
            </a:avLst>
          </a:prstGeom>
          <a:solidFill>
            <a:srgbClr val="FFFFFF"/>
          </a:solidFill>
          <a:ln/>
          <a:effectLst>
            <a:outerShdw blurRad="101600" dist="25400" dir="5400000" algn="bl" rotWithShape="0">
              <a:srgbClr val="000000">
                <a:alpha val="8000"/>
              </a:srgbClr>
            </a:outerShdw>
          </a:effectLst>
        </p:spPr>
      </p:sp>
      <p:sp>
        <p:nvSpPr>
          <p:cNvPr id="19" name="Shape 16"/>
          <p:cNvSpPr/>
          <p:nvPr/>
        </p:nvSpPr>
        <p:spPr>
          <a:xfrm>
            <a:off x="868680" y="5285232"/>
            <a:ext cx="402336" cy="402336"/>
          </a:xfrm>
          <a:prstGeom prst="ellipse">
            <a:avLst/>
          </a:prstGeom>
          <a:solidFill>
            <a:srgbClr val="F4C95D"/>
          </a:solidFill>
          <a:ln/>
        </p:spPr>
      </p:sp>
      <p:sp>
        <p:nvSpPr>
          <p:cNvPr id="20" name="Text 17"/>
          <p:cNvSpPr/>
          <p:nvPr/>
        </p:nvSpPr>
        <p:spPr>
          <a:xfrm>
            <a:off x="868680" y="5285232"/>
            <a:ext cx="402336" cy="402336"/>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4</a:t>
            </a:r>
            <a:endParaRPr lang="en-US" sz="1500" dirty="0"/>
          </a:p>
        </p:txBody>
      </p:sp>
      <p:sp>
        <p:nvSpPr>
          <p:cNvPr id="21" name="Text 18"/>
          <p:cNvSpPr/>
          <p:nvPr/>
        </p:nvSpPr>
        <p:spPr>
          <a:xfrm>
            <a:off x="1508760" y="5138928"/>
            <a:ext cx="9784080" cy="713232"/>
          </a:xfrm>
          <a:prstGeom prst="rect">
            <a:avLst/>
          </a:prstGeom>
          <a:noFill/>
          <a:ln/>
        </p:spPr>
        <p:txBody>
          <a:bodyPr wrap="square" lIns="0" tIns="0" rIns="0" bIns="0" rtlCol="0" anchor="ctr"/>
          <a:lstStyle/>
          <a:p>
            <a:pPr marL="0" indent="0">
              <a:lnSpc>
                <a:spcPts val="1500"/>
              </a:lnSpc>
              <a:buNone/>
            </a:pPr>
            <a:r>
              <a:rPr lang="en-US" sz="1200" b="1" dirty="0">
                <a:solidFill>
                  <a:srgbClr val="22262F"/>
                </a:solidFill>
                <a:latin typeface="Calibri" pitchFamily="34" charset="0"/>
                <a:ea typeface="Calibri" pitchFamily="34" charset="-122"/>
                <a:cs typeface="Calibri" pitchFamily="34" charset="-120"/>
              </a:rPr>
              <a:t>Earnings dashboard —  </a:t>
            </a:r>
            <a:r>
              <a:rPr lang="en-US" sz="1200" dirty="0">
                <a:solidFill>
                  <a:srgbClr val="6B7280"/>
                </a:solidFill>
                <a:latin typeface="Calibri" pitchFamily="34" charset="0"/>
                <a:ea typeface="Calibri" pitchFamily="34" charset="-122"/>
                <a:cs typeface="Calibri" pitchFamily="34" charset="-120"/>
              </a:rPr>
              <a:t>/orders/earnings/:userId sums every paid order a seller has ever made, for a running lifetime total.</a:t>
            </a:r>
            <a:endParaRPr lang="en-US" sz="1200" dirty="0"/>
          </a:p>
        </p:txBody>
      </p:sp>
      <p:sp>
        <p:nvSpPr>
          <p:cNvPr id="22" name="Text 19"/>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DEPLOYMENT</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3200" b="1" dirty="0">
                <a:solidFill>
                  <a:srgbClr val="22262F"/>
                </a:solidFill>
                <a:latin typeface="Cambria" pitchFamily="34" charset="0"/>
                <a:ea typeface="Cambria" pitchFamily="34" charset="-122"/>
                <a:cs typeface="Cambria" pitchFamily="34" charset="-120"/>
              </a:rPr>
              <a:t>Runs the same app, two different ways</a:t>
            </a:r>
            <a:endParaRPr lang="en-US" sz="3200" dirty="0"/>
          </a:p>
        </p:txBody>
      </p:sp>
      <p:sp>
        <p:nvSpPr>
          <p:cNvPr id="4" name="Shape 2"/>
          <p:cNvSpPr/>
          <p:nvPr/>
        </p:nvSpPr>
        <p:spPr>
          <a:xfrm>
            <a:off x="640080" y="1965960"/>
            <a:ext cx="5212080" cy="3749040"/>
          </a:xfrm>
          <a:prstGeom prst="roundRect">
            <a:avLst>
              <a:gd name="adj" fmla="val 2439"/>
            </a:avLst>
          </a:prstGeom>
          <a:solidFill>
            <a:srgbClr val="FFFFFF"/>
          </a:solidFill>
          <a:ln w="12700">
            <a:solidFill>
              <a:srgbClr val="E7E7EE"/>
            </a:solidFill>
            <a:prstDash val="solid"/>
          </a:ln>
        </p:spPr>
      </p:sp>
      <p:sp>
        <p:nvSpPr>
          <p:cNvPr id="5" name="Shape 3"/>
          <p:cNvSpPr/>
          <p:nvPr/>
        </p:nvSpPr>
        <p:spPr>
          <a:xfrm>
            <a:off x="914400" y="2240280"/>
            <a:ext cx="594360" cy="594360"/>
          </a:xfrm>
          <a:prstGeom prst="ellipse">
            <a:avLst/>
          </a:prstGeom>
          <a:solidFill>
            <a:srgbClr val="1B1F3B"/>
          </a:solidFill>
          <a:ln/>
        </p:spPr>
      </p:sp>
      <p:pic>
        <p:nvPicPr>
          <p:cNvPr id="6" name="Image 0" descr="/home/claude/work/deck/icons/docker_gold.png"/>
          <p:cNvPicPr>
            <a:picLocks noChangeAspect="1"/>
          </p:cNvPicPr>
          <p:nvPr/>
        </p:nvPicPr>
        <p:blipFill>
          <a:blip r:embed="rId3"/>
          <a:stretch>
            <a:fillRect/>
          </a:stretch>
        </p:blipFill>
        <p:spPr>
          <a:xfrm>
            <a:off x="1060704" y="2386584"/>
            <a:ext cx="301752" cy="301752"/>
          </a:xfrm>
          <a:prstGeom prst="rect">
            <a:avLst/>
          </a:prstGeom>
        </p:spPr>
      </p:pic>
      <p:sp>
        <p:nvSpPr>
          <p:cNvPr id="7" name="Text 4"/>
          <p:cNvSpPr/>
          <p:nvPr/>
        </p:nvSpPr>
        <p:spPr>
          <a:xfrm>
            <a:off x="1645920" y="2286000"/>
            <a:ext cx="4023360" cy="502920"/>
          </a:xfrm>
          <a:prstGeom prst="rect">
            <a:avLst/>
          </a:prstGeom>
          <a:noFill/>
          <a:ln/>
        </p:spPr>
        <p:txBody>
          <a:bodyPr wrap="square" lIns="0" tIns="0" rIns="0" bIns="0" rtlCol="0" anchor="ctr"/>
          <a:lstStyle/>
          <a:p>
            <a:pPr marL="0" indent="0">
              <a:buNone/>
            </a:pPr>
            <a:r>
              <a:rPr lang="en-US" sz="1550" b="1" dirty="0">
                <a:solidFill>
                  <a:srgbClr val="22262F"/>
                </a:solidFill>
                <a:latin typeface="Cambria" pitchFamily="34" charset="0"/>
                <a:ea typeface="Cambria" pitchFamily="34" charset="-122"/>
                <a:cs typeface="Cambria" pitchFamily="34" charset="-120"/>
              </a:rPr>
              <a:t>Docker Compose (local dev)</a:t>
            </a:r>
            <a:endParaRPr lang="en-US" sz="1550" dirty="0"/>
          </a:p>
        </p:txBody>
      </p:sp>
      <p:sp>
        <p:nvSpPr>
          <p:cNvPr id="8" name="Shape 5"/>
          <p:cNvSpPr/>
          <p:nvPr/>
        </p:nvSpPr>
        <p:spPr>
          <a:xfrm>
            <a:off x="960120" y="3136392"/>
            <a:ext cx="91440" cy="91440"/>
          </a:xfrm>
          <a:prstGeom prst="ellipse">
            <a:avLst/>
          </a:prstGeom>
          <a:solidFill>
            <a:srgbClr val="FF6F59"/>
          </a:solidFill>
          <a:ln/>
        </p:spPr>
      </p:sp>
      <p:sp>
        <p:nvSpPr>
          <p:cNvPr id="9" name="Text 6"/>
          <p:cNvSpPr/>
          <p:nvPr/>
        </p:nvSpPr>
        <p:spPr>
          <a:xfrm>
            <a:off x="1188720" y="2953512"/>
            <a:ext cx="43434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`docker compose up --build`</a:t>
            </a:r>
            <a:endParaRPr lang="en-US" sz="1150" dirty="0"/>
          </a:p>
        </p:txBody>
      </p:sp>
      <p:sp>
        <p:nvSpPr>
          <p:cNvPr id="10" name="Shape 7"/>
          <p:cNvSpPr/>
          <p:nvPr/>
        </p:nvSpPr>
        <p:spPr>
          <a:xfrm>
            <a:off x="960120" y="4005072"/>
            <a:ext cx="91440" cy="91440"/>
          </a:xfrm>
          <a:prstGeom prst="ellipse">
            <a:avLst/>
          </a:prstGeom>
          <a:solidFill>
            <a:srgbClr val="FF6F59"/>
          </a:solidFill>
          <a:ln/>
        </p:spPr>
      </p:sp>
      <p:sp>
        <p:nvSpPr>
          <p:cNvPr id="11" name="Text 8"/>
          <p:cNvSpPr/>
          <p:nvPr/>
        </p:nvSpPr>
        <p:spPr>
          <a:xfrm>
            <a:off x="1188720" y="3822192"/>
            <a:ext cx="43434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Builds &amp; starts all 5 containers in one command</a:t>
            </a:r>
            <a:endParaRPr lang="en-US" sz="1150" dirty="0"/>
          </a:p>
        </p:txBody>
      </p:sp>
      <p:sp>
        <p:nvSpPr>
          <p:cNvPr id="12" name="Shape 9"/>
          <p:cNvSpPr/>
          <p:nvPr/>
        </p:nvSpPr>
        <p:spPr>
          <a:xfrm>
            <a:off x="960120" y="4873752"/>
            <a:ext cx="91440" cy="91440"/>
          </a:xfrm>
          <a:prstGeom prst="ellipse">
            <a:avLst/>
          </a:prstGeom>
          <a:solidFill>
            <a:srgbClr val="FF6F59"/>
          </a:solidFill>
          <a:ln/>
        </p:spPr>
      </p:sp>
      <p:sp>
        <p:nvSpPr>
          <p:cNvPr id="13" name="Text 10"/>
          <p:cNvSpPr/>
          <p:nvPr/>
        </p:nvSpPr>
        <p:spPr>
          <a:xfrm>
            <a:off x="1188720" y="4690872"/>
            <a:ext cx="43434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Reads AWS/Stripe config straight from a root .env file</a:t>
            </a:r>
            <a:endParaRPr lang="en-US" sz="1150" dirty="0"/>
          </a:p>
        </p:txBody>
      </p:sp>
      <p:sp>
        <p:nvSpPr>
          <p:cNvPr id="14" name="Shape 11"/>
          <p:cNvSpPr/>
          <p:nvPr/>
        </p:nvSpPr>
        <p:spPr>
          <a:xfrm>
            <a:off x="6309360" y="1965960"/>
            <a:ext cx="5212080" cy="3749040"/>
          </a:xfrm>
          <a:prstGeom prst="roundRect">
            <a:avLst>
              <a:gd name="adj" fmla="val 2439"/>
            </a:avLst>
          </a:prstGeom>
          <a:solidFill>
            <a:srgbClr val="FFFFFF"/>
          </a:solidFill>
          <a:ln w="12700">
            <a:solidFill>
              <a:srgbClr val="E7E7EE"/>
            </a:solidFill>
            <a:prstDash val="solid"/>
          </a:ln>
        </p:spPr>
      </p:sp>
      <p:sp>
        <p:nvSpPr>
          <p:cNvPr id="15" name="Shape 12"/>
          <p:cNvSpPr/>
          <p:nvPr/>
        </p:nvSpPr>
        <p:spPr>
          <a:xfrm>
            <a:off x="6583680" y="2240280"/>
            <a:ext cx="594360" cy="594360"/>
          </a:xfrm>
          <a:prstGeom prst="ellipse">
            <a:avLst/>
          </a:prstGeom>
          <a:solidFill>
            <a:srgbClr val="1B1F3B"/>
          </a:solidFill>
          <a:ln/>
        </p:spPr>
      </p:sp>
      <p:pic>
        <p:nvPicPr>
          <p:cNvPr id="16" name="Image 1" descr="/home/claude/work/deck/icons/cloud_gold.png"/>
          <p:cNvPicPr>
            <a:picLocks noChangeAspect="1"/>
          </p:cNvPicPr>
          <p:nvPr/>
        </p:nvPicPr>
        <p:blipFill>
          <a:blip r:embed="rId4"/>
          <a:stretch>
            <a:fillRect/>
          </a:stretch>
        </p:blipFill>
        <p:spPr>
          <a:xfrm>
            <a:off x="6729984" y="2386584"/>
            <a:ext cx="301752" cy="301752"/>
          </a:xfrm>
          <a:prstGeom prst="rect">
            <a:avLst/>
          </a:prstGeom>
        </p:spPr>
      </p:pic>
      <p:sp>
        <p:nvSpPr>
          <p:cNvPr id="17" name="Text 13"/>
          <p:cNvSpPr/>
          <p:nvPr/>
        </p:nvSpPr>
        <p:spPr>
          <a:xfrm>
            <a:off x="7315200" y="2286000"/>
            <a:ext cx="4023360" cy="502920"/>
          </a:xfrm>
          <a:prstGeom prst="rect">
            <a:avLst/>
          </a:prstGeom>
          <a:noFill/>
          <a:ln/>
        </p:spPr>
        <p:txBody>
          <a:bodyPr wrap="square" lIns="0" tIns="0" rIns="0" bIns="0" rtlCol="0" anchor="ctr"/>
          <a:lstStyle/>
          <a:p>
            <a:pPr marL="0" indent="0">
              <a:buNone/>
            </a:pPr>
            <a:r>
              <a:rPr lang="en-US" sz="1550" b="1" dirty="0">
                <a:solidFill>
                  <a:srgbClr val="22262F"/>
                </a:solidFill>
                <a:latin typeface="Cambria" pitchFamily="34" charset="0"/>
                <a:ea typeface="Cambria" pitchFamily="34" charset="-122"/>
                <a:cs typeface="Cambria" pitchFamily="34" charset="-120"/>
              </a:rPr>
              <a:t>Kubernetes (Docker Desktop)</a:t>
            </a:r>
            <a:endParaRPr lang="en-US" sz="1550" dirty="0"/>
          </a:p>
        </p:txBody>
      </p:sp>
      <p:sp>
        <p:nvSpPr>
          <p:cNvPr id="18" name="Shape 14"/>
          <p:cNvSpPr/>
          <p:nvPr/>
        </p:nvSpPr>
        <p:spPr>
          <a:xfrm>
            <a:off x="6629400" y="3136392"/>
            <a:ext cx="91440" cy="91440"/>
          </a:xfrm>
          <a:prstGeom prst="ellipse">
            <a:avLst/>
          </a:prstGeom>
          <a:solidFill>
            <a:srgbClr val="FF6F59"/>
          </a:solidFill>
          <a:ln/>
        </p:spPr>
      </p:sp>
      <p:sp>
        <p:nvSpPr>
          <p:cNvPr id="19" name="Text 15"/>
          <p:cNvSpPr/>
          <p:nvPr/>
        </p:nvSpPr>
        <p:spPr>
          <a:xfrm>
            <a:off x="6858000" y="2953512"/>
            <a:ext cx="43434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6 Deployments + 6 Services (NodePort)</a:t>
            </a:r>
            <a:endParaRPr lang="en-US" sz="1150" dirty="0"/>
          </a:p>
        </p:txBody>
      </p:sp>
      <p:sp>
        <p:nvSpPr>
          <p:cNvPr id="20" name="Shape 16"/>
          <p:cNvSpPr/>
          <p:nvPr/>
        </p:nvSpPr>
        <p:spPr>
          <a:xfrm>
            <a:off x="6629400" y="4005072"/>
            <a:ext cx="91440" cy="91440"/>
          </a:xfrm>
          <a:prstGeom prst="ellipse">
            <a:avLst/>
          </a:prstGeom>
          <a:solidFill>
            <a:srgbClr val="FF6F59"/>
          </a:solidFill>
          <a:ln/>
        </p:spPr>
      </p:sp>
      <p:sp>
        <p:nvSpPr>
          <p:cNvPr id="21" name="Text 17"/>
          <p:cNvSpPr/>
          <p:nvPr/>
        </p:nvSpPr>
        <p:spPr>
          <a:xfrm>
            <a:off x="6858000" y="3822192"/>
            <a:ext cx="43434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Images built locally &amp; referenced with imagePullPolicy: Never</a:t>
            </a:r>
            <a:endParaRPr lang="en-US" sz="1150" dirty="0"/>
          </a:p>
        </p:txBody>
      </p:sp>
      <p:sp>
        <p:nvSpPr>
          <p:cNvPr id="22" name="Shape 18"/>
          <p:cNvSpPr/>
          <p:nvPr/>
        </p:nvSpPr>
        <p:spPr>
          <a:xfrm>
            <a:off x="6629400" y="4873752"/>
            <a:ext cx="91440" cy="91440"/>
          </a:xfrm>
          <a:prstGeom prst="ellipse">
            <a:avLst/>
          </a:prstGeom>
          <a:solidFill>
            <a:srgbClr val="FF6F59"/>
          </a:solidFill>
          <a:ln/>
        </p:spPr>
      </p:sp>
      <p:sp>
        <p:nvSpPr>
          <p:cNvPr id="23" name="Text 19"/>
          <p:cNvSpPr/>
          <p:nvPr/>
        </p:nvSpPr>
        <p:spPr>
          <a:xfrm>
            <a:off x="6858000" y="4690872"/>
            <a:ext cx="4343400" cy="685800"/>
          </a:xfrm>
          <a:prstGeom prst="rect">
            <a:avLst/>
          </a:prstGeom>
          <a:noFill/>
          <a:ln/>
        </p:spPr>
        <p:txBody>
          <a:bodyPr wrap="square" lIns="0" tIns="0" rIns="0" bIns="0"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Config values written inline in each manifest — no Secrets/ConfigMaps yet</a:t>
            </a:r>
            <a:endParaRPr lang="en-US" sz="1150" dirty="0"/>
          </a:p>
        </p:txBody>
      </p:sp>
      <p:sp>
        <p:nvSpPr>
          <p:cNvPr id="24" name="Text 20"/>
          <p:cNvSpPr/>
          <p:nvPr/>
        </p:nvSpPr>
        <p:spPr>
          <a:xfrm>
            <a:off x="640080" y="5897880"/>
            <a:ext cx="10881360" cy="3657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Both paths run the same 6 components: frontend, user-service, listing-service, chat-service, PostgreSQL, MongoDB.</a:t>
            </a:r>
            <a:endParaRPr lang="en-US" sz="1100" dirty="0"/>
          </a:p>
        </p:txBody>
      </p:sp>
      <p:sp>
        <p:nvSpPr>
          <p:cNvPr id="25" name="Text 21"/>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F6F59"/>
                </a:solidFill>
                <a:latin typeface="Calibri" pitchFamily="34" charset="0"/>
                <a:ea typeface="Calibri" pitchFamily="34" charset="-122"/>
                <a:cs typeface="Calibri" pitchFamily="34" charset="-120"/>
              </a:rPr>
              <a:t>UNDER THE HOOD — HONEST LOOK</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2800" b="1" dirty="0">
                <a:solidFill>
                  <a:srgbClr val="22262F"/>
                </a:solidFill>
                <a:latin typeface="Cambria" pitchFamily="34" charset="0"/>
                <a:ea typeface="Cambria" pitchFamily="34" charset="-122"/>
                <a:cs typeface="Cambria" pitchFamily="34" charset="-120"/>
              </a:rPr>
              <a:t>Known limitations, ranked by how serious they are</a:t>
            </a:r>
            <a:endParaRPr lang="en-US" sz="2800" dirty="0"/>
          </a:p>
        </p:txBody>
      </p:sp>
      <p:pic>
        <p:nvPicPr>
          <p:cNvPr id="4" name="Image 0" descr="/home/claude/work/deck/icons/warning_coral.png"/>
          <p:cNvPicPr>
            <a:picLocks noChangeAspect="1"/>
          </p:cNvPicPr>
          <p:nvPr/>
        </p:nvPicPr>
        <p:blipFill>
          <a:blip r:embed="rId3"/>
          <a:stretch>
            <a:fillRect/>
          </a:stretch>
        </p:blipFill>
        <p:spPr>
          <a:xfrm>
            <a:off x="10378440" y="640080"/>
            <a:ext cx="548640" cy="548640"/>
          </a:xfrm>
          <a:prstGeom prst="rect">
            <a:avLst/>
          </a:prstGeom>
        </p:spPr>
      </p:pic>
      <p:sp>
        <p:nvSpPr>
          <p:cNvPr id="5" name="Shape 2"/>
          <p:cNvSpPr/>
          <p:nvPr/>
        </p:nvSpPr>
        <p:spPr>
          <a:xfrm>
            <a:off x="640080" y="1783080"/>
            <a:ext cx="5212080" cy="1481328"/>
          </a:xfrm>
          <a:prstGeom prst="roundRect">
            <a:avLst>
              <a:gd name="adj" fmla="val 4938"/>
            </a:avLst>
          </a:prstGeom>
          <a:solidFill>
            <a:srgbClr val="FFFFFF"/>
          </a:solidFill>
          <a:ln/>
          <a:effectLst>
            <a:outerShdw blurRad="76200" dist="25400" dir="5400000" algn="bl" rotWithShape="0">
              <a:srgbClr val="000000">
                <a:alpha val="8000"/>
              </a:srgbClr>
            </a:outerShdw>
          </a:effectLst>
        </p:spPr>
      </p:sp>
      <p:sp>
        <p:nvSpPr>
          <p:cNvPr id="6" name="Shape 3"/>
          <p:cNvSpPr/>
          <p:nvPr/>
        </p:nvSpPr>
        <p:spPr>
          <a:xfrm>
            <a:off x="841248" y="1984248"/>
            <a:ext cx="457200" cy="457200"/>
          </a:xfrm>
          <a:prstGeom prst="ellipse">
            <a:avLst/>
          </a:prstGeom>
          <a:solidFill>
            <a:srgbClr val="FF6F59"/>
          </a:solidFill>
          <a:ln/>
        </p:spPr>
      </p:sp>
      <p:sp>
        <p:nvSpPr>
          <p:cNvPr id="7" name="Text 4"/>
          <p:cNvSpPr/>
          <p:nvPr/>
        </p:nvSpPr>
        <p:spPr>
          <a:xfrm>
            <a:off x="841248" y="19842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5"/>
          <p:cNvSpPr/>
          <p:nvPr/>
        </p:nvSpPr>
        <p:spPr>
          <a:xfrm>
            <a:off x="1463040" y="1920240"/>
            <a:ext cx="4206240" cy="411480"/>
          </a:xfrm>
          <a:prstGeom prst="rect">
            <a:avLst/>
          </a:prstGeom>
          <a:noFill/>
          <a:ln/>
        </p:spPr>
        <p:txBody>
          <a:bodyPr wrap="square" lIns="0" tIns="0" rIns="0" bIns="0" rtlCol="0" anchor="ctr"/>
          <a:lstStyle/>
          <a:p>
            <a:pPr marL="0" indent="0">
              <a:buNone/>
            </a:pPr>
            <a:r>
              <a:rPr lang="en-US" sz="1300" b="1" dirty="0">
                <a:solidFill>
                  <a:srgbClr val="22262F"/>
                </a:solidFill>
                <a:latin typeface="Cambria" pitchFamily="34" charset="0"/>
                <a:ea typeface="Cambria" pitchFamily="34" charset="-122"/>
                <a:cs typeface="Cambria" pitchFamily="34" charset="-120"/>
              </a:rPr>
              <a:t>Negotiation isn't verified</a:t>
            </a:r>
            <a:endParaRPr lang="en-US" sz="1300" dirty="0"/>
          </a:p>
        </p:txBody>
      </p:sp>
      <p:sp>
        <p:nvSpPr>
          <p:cNvPr id="9" name="Text 6"/>
          <p:cNvSpPr/>
          <p:nvPr/>
        </p:nvSpPr>
        <p:spPr>
          <a:xfrm>
            <a:off x="1463040" y="2313432"/>
            <a:ext cx="4206240" cy="868680"/>
          </a:xfrm>
          <a:prstGeom prst="rect">
            <a:avLst/>
          </a:prstGeom>
          <a:noFill/>
          <a:ln/>
        </p:spPr>
        <p:txBody>
          <a:bodyPr wrap="square" lIns="0" tIns="0" rIns="0" bIns="0" rtlCol="0" anchor="ctr"/>
          <a:lstStyle/>
          <a:p>
            <a:pPr marL="0" indent="0">
              <a:lnSpc>
                <a:spcPts val="1350"/>
              </a:lnSpc>
              <a:buNone/>
            </a:pPr>
            <a:r>
              <a:rPr lang="en-US" sz="1000" dirty="0">
                <a:solidFill>
                  <a:srgbClr val="6B7280"/>
                </a:solidFill>
                <a:latin typeface="Calibri" pitchFamily="34" charset="0"/>
                <a:ea typeface="Calibri" pitchFamily="34" charset="-122"/>
                <a:cs typeface="Calibri" pitchFamily="34" charset="-120"/>
              </a:rPr>
              <a:t>listing-service trusts whatever {buyerId, price} it receives — it never checks chat-service that an offer was actually accepted.</a:t>
            </a:r>
            <a:endParaRPr lang="en-US" sz="1000" dirty="0"/>
          </a:p>
        </p:txBody>
      </p:sp>
      <p:sp>
        <p:nvSpPr>
          <p:cNvPr id="10" name="Shape 7"/>
          <p:cNvSpPr/>
          <p:nvPr/>
        </p:nvSpPr>
        <p:spPr>
          <a:xfrm>
            <a:off x="6309360" y="1783080"/>
            <a:ext cx="5212080" cy="1481328"/>
          </a:xfrm>
          <a:prstGeom prst="roundRect">
            <a:avLst>
              <a:gd name="adj" fmla="val 4938"/>
            </a:avLst>
          </a:prstGeom>
          <a:solidFill>
            <a:srgbClr val="FFFFFF"/>
          </a:solidFill>
          <a:ln/>
          <a:effectLst>
            <a:outerShdw blurRad="76200" dist="25400" dir="5400000" algn="bl" rotWithShape="0">
              <a:srgbClr val="000000">
                <a:alpha val="8000"/>
              </a:srgbClr>
            </a:outerShdw>
          </a:effectLst>
        </p:spPr>
      </p:sp>
      <p:sp>
        <p:nvSpPr>
          <p:cNvPr id="11" name="Shape 8"/>
          <p:cNvSpPr/>
          <p:nvPr/>
        </p:nvSpPr>
        <p:spPr>
          <a:xfrm>
            <a:off x="6510528" y="1984248"/>
            <a:ext cx="457200" cy="457200"/>
          </a:xfrm>
          <a:prstGeom prst="ellipse">
            <a:avLst/>
          </a:prstGeom>
          <a:solidFill>
            <a:srgbClr val="1B1F3B"/>
          </a:solidFill>
          <a:ln/>
        </p:spPr>
      </p:sp>
      <p:sp>
        <p:nvSpPr>
          <p:cNvPr id="12" name="Text 9"/>
          <p:cNvSpPr/>
          <p:nvPr/>
        </p:nvSpPr>
        <p:spPr>
          <a:xfrm>
            <a:off x="6510528" y="198424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0"/>
          <p:cNvSpPr/>
          <p:nvPr/>
        </p:nvSpPr>
        <p:spPr>
          <a:xfrm>
            <a:off x="7132320" y="1920240"/>
            <a:ext cx="4206240" cy="411480"/>
          </a:xfrm>
          <a:prstGeom prst="rect">
            <a:avLst/>
          </a:prstGeom>
          <a:noFill/>
          <a:ln/>
        </p:spPr>
        <p:txBody>
          <a:bodyPr wrap="square" lIns="0" tIns="0" rIns="0" bIns="0" rtlCol="0" anchor="ctr"/>
          <a:lstStyle/>
          <a:p>
            <a:pPr marL="0" indent="0">
              <a:buNone/>
            </a:pPr>
            <a:r>
              <a:rPr lang="en-US" sz="1300" b="1" dirty="0">
                <a:solidFill>
                  <a:srgbClr val="22262F"/>
                </a:solidFill>
                <a:latin typeface="Cambria" pitchFamily="34" charset="0"/>
                <a:ea typeface="Cambria" pitchFamily="34" charset="-122"/>
                <a:cs typeface="Cambria" pitchFamily="34" charset="-120"/>
              </a:rPr>
              <a:t>No atomicity across services</a:t>
            </a:r>
            <a:endParaRPr lang="en-US" sz="1300" dirty="0"/>
          </a:p>
        </p:txBody>
      </p:sp>
      <p:sp>
        <p:nvSpPr>
          <p:cNvPr id="14" name="Text 11"/>
          <p:cNvSpPr/>
          <p:nvPr/>
        </p:nvSpPr>
        <p:spPr>
          <a:xfrm>
            <a:off x="7132320" y="2313432"/>
            <a:ext cx="4206240" cy="868680"/>
          </a:xfrm>
          <a:prstGeom prst="rect">
            <a:avLst/>
          </a:prstGeom>
          <a:noFill/>
          <a:ln/>
        </p:spPr>
        <p:txBody>
          <a:bodyPr wrap="square" lIns="0" tIns="0" rIns="0" bIns="0" rtlCol="0" anchor="ctr"/>
          <a:lstStyle/>
          <a:p>
            <a:pPr marL="0" indent="0">
              <a:lnSpc>
                <a:spcPts val="1350"/>
              </a:lnSpc>
              <a:buNone/>
            </a:pPr>
            <a:r>
              <a:rPr lang="en-US" sz="1000" dirty="0">
                <a:solidFill>
                  <a:srgbClr val="6B7280"/>
                </a:solidFill>
                <a:latin typeface="Calibri" pitchFamily="34" charset="0"/>
                <a:ea typeface="Calibri" pitchFamily="34" charset="-122"/>
                <a:cs typeface="Calibri" pitchFamily="34" charset="-120"/>
              </a:rPr>
              <a:t>accepting a message (Mongo) and recording the price (Postgres) are two separate calls, with no rollback if the second fails.</a:t>
            </a:r>
            <a:endParaRPr lang="en-US" sz="1000" dirty="0"/>
          </a:p>
        </p:txBody>
      </p:sp>
      <p:sp>
        <p:nvSpPr>
          <p:cNvPr id="15" name="Shape 12"/>
          <p:cNvSpPr/>
          <p:nvPr/>
        </p:nvSpPr>
        <p:spPr>
          <a:xfrm>
            <a:off x="640080" y="3401568"/>
            <a:ext cx="5212080" cy="1481328"/>
          </a:xfrm>
          <a:prstGeom prst="roundRect">
            <a:avLst>
              <a:gd name="adj" fmla="val 4938"/>
            </a:avLst>
          </a:prstGeom>
          <a:solidFill>
            <a:srgbClr val="FFFFFF"/>
          </a:solidFill>
          <a:ln/>
          <a:effectLst>
            <a:outerShdw blurRad="76200" dist="25400" dir="5400000" algn="bl" rotWithShape="0">
              <a:srgbClr val="000000">
                <a:alpha val="8000"/>
              </a:srgbClr>
            </a:outerShdw>
          </a:effectLst>
        </p:spPr>
      </p:sp>
      <p:sp>
        <p:nvSpPr>
          <p:cNvPr id="16" name="Shape 13"/>
          <p:cNvSpPr/>
          <p:nvPr/>
        </p:nvSpPr>
        <p:spPr>
          <a:xfrm>
            <a:off x="841248" y="3602736"/>
            <a:ext cx="457200" cy="457200"/>
          </a:xfrm>
          <a:prstGeom prst="ellipse">
            <a:avLst/>
          </a:prstGeom>
          <a:solidFill>
            <a:srgbClr val="1B1F3B"/>
          </a:solidFill>
          <a:ln/>
        </p:spPr>
      </p:sp>
      <p:sp>
        <p:nvSpPr>
          <p:cNvPr id="17" name="Text 14"/>
          <p:cNvSpPr/>
          <p:nvPr/>
        </p:nvSpPr>
        <p:spPr>
          <a:xfrm>
            <a:off x="841248" y="36027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5"/>
          <p:cNvSpPr/>
          <p:nvPr/>
        </p:nvSpPr>
        <p:spPr>
          <a:xfrm>
            <a:off x="1463040" y="3538728"/>
            <a:ext cx="4206240" cy="411480"/>
          </a:xfrm>
          <a:prstGeom prst="rect">
            <a:avLst/>
          </a:prstGeom>
          <a:noFill/>
          <a:ln/>
        </p:spPr>
        <p:txBody>
          <a:bodyPr wrap="square" lIns="0" tIns="0" rIns="0" bIns="0" rtlCol="0" anchor="ctr"/>
          <a:lstStyle/>
          <a:p>
            <a:pPr marL="0" indent="0">
              <a:buNone/>
            </a:pPr>
            <a:r>
              <a:rPr lang="en-US" sz="1300" b="1" dirty="0">
                <a:solidFill>
                  <a:srgbClr val="22262F"/>
                </a:solidFill>
                <a:latin typeface="Cambria" pitchFamily="34" charset="0"/>
                <a:ea typeface="Cambria" pitchFamily="34" charset="-122"/>
                <a:cs typeface="Cambria" pitchFamily="34" charset="-120"/>
              </a:rPr>
              <a:t>No audit trail</a:t>
            </a:r>
            <a:endParaRPr lang="en-US" sz="1300" dirty="0"/>
          </a:p>
        </p:txBody>
      </p:sp>
      <p:sp>
        <p:nvSpPr>
          <p:cNvPr id="19" name="Text 16"/>
          <p:cNvSpPr/>
          <p:nvPr/>
        </p:nvSpPr>
        <p:spPr>
          <a:xfrm>
            <a:off x="1463040" y="3931920"/>
            <a:ext cx="4206240" cy="868680"/>
          </a:xfrm>
          <a:prstGeom prst="rect">
            <a:avLst/>
          </a:prstGeom>
          <a:noFill/>
          <a:ln/>
        </p:spPr>
        <p:txBody>
          <a:bodyPr wrap="square" lIns="0" tIns="0" rIns="0" bIns="0" rtlCol="0" anchor="ctr"/>
          <a:lstStyle/>
          <a:p>
            <a:pPr marL="0" indent="0">
              <a:lnSpc>
                <a:spcPts val="1350"/>
              </a:lnSpc>
              <a:buNone/>
            </a:pPr>
            <a:r>
              <a:rPr lang="en-US" sz="1000" dirty="0">
                <a:solidFill>
                  <a:srgbClr val="6B7280"/>
                </a:solidFill>
                <a:latin typeface="Calibri" pitchFamily="34" charset="0"/>
                <a:ea typeface="Calibri" pitchFamily="34" charset="-122"/>
                <a:cs typeface="Calibri" pitchFamily="34" charset="-120"/>
              </a:rPr>
              <a:t>ON CONFLICT DO UPDATE overwrites silently — a second negotiation erases all record of the first.</a:t>
            </a:r>
            <a:endParaRPr lang="en-US" sz="1000" dirty="0"/>
          </a:p>
        </p:txBody>
      </p:sp>
      <p:sp>
        <p:nvSpPr>
          <p:cNvPr id="20" name="Shape 17"/>
          <p:cNvSpPr/>
          <p:nvPr/>
        </p:nvSpPr>
        <p:spPr>
          <a:xfrm>
            <a:off x="6309360" y="3401568"/>
            <a:ext cx="5212080" cy="1481328"/>
          </a:xfrm>
          <a:prstGeom prst="roundRect">
            <a:avLst>
              <a:gd name="adj" fmla="val 4938"/>
            </a:avLst>
          </a:prstGeom>
          <a:solidFill>
            <a:srgbClr val="FFFFFF"/>
          </a:solidFill>
          <a:ln/>
          <a:effectLst>
            <a:outerShdw blurRad="76200" dist="25400" dir="5400000" algn="bl" rotWithShape="0">
              <a:srgbClr val="000000">
                <a:alpha val="8000"/>
              </a:srgbClr>
            </a:outerShdw>
          </a:effectLst>
        </p:spPr>
      </p:sp>
      <p:sp>
        <p:nvSpPr>
          <p:cNvPr id="21" name="Shape 18"/>
          <p:cNvSpPr/>
          <p:nvPr/>
        </p:nvSpPr>
        <p:spPr>
          <a:xfrm>
            <a:off x="6510528" y="3602736"/>
            <a:ext cx="457200" cy="457200"/>
          </a:xfrm>
          <a:prstGeom prst="ellipse">
            <a:avLst/>
          </a:prstGeom>
          <a:solidFill>
            <a:srgbClr val="1B1F3B"/>
          </a:solidFill>
          <a:ln/>
        </p:spPr>
      </p:sp>
      <p:sp>
        <p:nvSpPr>
          <p:cNvPr id="22" name="Text 19"/>
          <p:cNvSpPr/>
          <p:nvPr/>
        </p:nvSpPr>
        <p:spPr>
          <a:xfrm>
            <a:off x="6510528" y="360273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0"/>
          <p:cNvSpPr/>
          <p:nvPr/>
        </p:nvSpPr>
        <p:spPr>
          <a:xfrm>
            <a:off x="7132320" y="3538728"/>
            <a:ext cx="4206240" cy="411480"/>
          </a:xfrm>
          <a:prstGeom prst="rect">
            <a:avLst/>
          </a:prstGeom>
          <a:noFill/>
          <a:ln/>
        </p:spPr>
        <p:txBody>
          <a:bodyPr wrap="square" lIns="0" tIns="0" rIns="0" bIns="0" rtlCol="0" anchor="ctr"/>
          <a:lstStyle/>
          <a:p>
            <a:pPr marL="0" indent="0">
              <a:buNone/>
            </a:pPr>
            <a:r>
              <a:rPr lang="en-US" sz="1300" b="1" dirty="0">
                <a:solidFill>
                  <a:srgbClr val="22262F"/>
                </a:solidFill>
                <a:latin typeface="Cambria" pitchFamily="34" charset="0"/>
                <a:ea typeface="Cambria" pitchFamily="34" charset="-122"/>
                <a:cs typeface="Cambria" pitchFamily="34" charset="-120"/>
              </a:rPr>
              <a:t>No expiration</a:t>
            </a:r>
            <a:endParaRPr lang="en-US" sz="1300" dirty="0"/>
          </a:p>
        </p:txBody>
      </p:sp>
      <p:sp>
        <p:nvSpPr>
          <p:cNvPr id="24" name="Text 21"/>
          <p:cNvSpPr/>
          <p:nvPr/>
        </p:nvSpPr>
        <p:spPr>
          <a:xfrm>
            <a:off x="7132320" y="3931920"/>
            <a:ext cx="4206240" cy="868680"/>
          </a:xfrm>
          <a:prstGeom prst="rect">
            <a:avLst/>
          </a:prstGeom>
          <a:noFill/>
          <a:ln/>
        </p:spPr>
        <p:txBody>
          <a:bodyPr wrap="square" lIns="0" tIns="0" rIns="0" bIns="0" rtlCol="0" anchor="ctr"/>
          <a:lstStyle/>
          <a:p>
            <a:pPr marL="0" indent="0">
              <a:lnSpc>
                <a:spcPts val="1350"/>
              </a:lnSpc>
              <a:buNone/>
            </a:pPr>
            <a:r>
              <a:rPr lang="en-US" sz="1000" dirty="0">
                <a:solidFill>
                  <a:srgbClr val="6B7280"/>
                </a:solidFill>
                <a:latin typeface="Calibri" pitchFamily="34" charset="0"/>
                <a:ea typeface="Calibri" pitchFamily="34" charset="-122"/>
                <a:cs typeface="Calibri" pitchFamily="34" charset="-120"/>
              </a:rPr>
              <a:t>a negotiated price lives forever once written — a buyer can honor a 6-month-old accepted offer.</a:t>
            </a:r>
            <a:endParaRPr lang="en-US" sz="1000" dirty="0"/>
          </a:p>
        </p:txBody>
      </p:sp>
      <p:sp>
        <p:nvSpPr>
          <p:cNvPr id="25" name="Shape 22"/>
          <p:cNvSpPr/>
          <p:nvPr/>
        </p:nvSpPr>
        <p:spPr>
          <a:xfrm>
            <a:off x="640080" y="5020056"/>
            <a:ext cx="5212080" cy="1481328"/>
          </a:xfrm>
          <a:prstGeom prst="roundRect">
            <a:avLst>
              <a:gd name="adj" fmla="val 4938"/>
            </a:avLst>
          </a:prstGeom>
          <a:solidFill>
            <a:srgbClr val="FFFFFF"/>
          </a:solidFill>
          <a:ln/>
          <a:effectLst>
            <a:outerShdw blurRad="76200" dist="25400" dir="5400000" algn="bl" rotWithShape="0">
              <a:srgbClr val="000000">
                <a:alpha val="8000"/>
              </a:srgbClr>
            </a:outerShdw>
          </a:effectLst>
        </p:spPr>
      </p:sp>
      <p:sp>
        <p:nvSpPr>
          <p:cNvPr id="26" name="Shape 23"/>
          <p:cNvSpPr/>
          <p:nvPr/>
        </p:nvSpPr>
        <p:spPr>
          <a:xfrm>
            <a:off x="841248" y="5221224"/>
            <a:ext cx="457200" cy="457200"/>
          </a:xfrm>
          <a:prstGeom prst="ellipse">
            <a:avLst/>
          </a:prstGeom>
          <a:solidFill>
            <a:srgbClr val="1B1F3B"/>
          </a:solidFill>
          <a:ln/>
        </p:spPr>
      </p:sp>
      <p:sp>
        <p:nvSpPr>
          <p:cNvPr id="27" name="Text 24"/>
          <p:cNvSpPr/>
          <p:nvPr/>
        </p:nvSpPr>
        <p:spPr>
          <a:xfrm>
            <a:off x="841248" y="5221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8" name="Text 25"/>
          <p:cNvSpPr/>
          <p:nvPr/>
        </p:nvSpPr>
        <p:spPr>
          <a:xfrm>
            <a:off x="1463040" y="5157216"/>
            <a:ext cx="4206240" cy="411480"/>
          </a:xfrm>
          <a:prstGeom prst="rect">
            <a:avLst/>
          </a:prstGeom>
          <a:noFill/>
          <a:ln/>
        </p:spPr>
        <p:txBody>
          <a:bodyPr wrap="square" lIns="0" tIns="0" rIns="0" bIns="0" rtlCol="0" anchor="ctr"/>
          <a:lstStyle/>
          <a:p>
            <a:pPr marL="0" indent="0">
              <a:buNone/>
            </a:pPr>
            <a:r>
              <a:rPr lang="en-US" sz="1300" b="1" dirty="0">
                <a:solidFill>
                  <a:srgbClr val="22262F"/>
                </a:solidFill>
                <a:latin typeface="Cambria" pitchFamily="34" charset="0"/>
                <a:ea typeface="Cambria" pitchFamily="34" charset="-122"/>
                <a:cs typeface="Cambria" pitchFamily="34" charset="-120"/>
              </a:rPr>
              <a:t>Logic lives in the frontend</a:t>
            </a:r>
            <a:endParaRPr lang="en-US" sz="1300" dirty="0"/>
          </a:p>
        </p:txBody>
      </p:sp>
      <p:sp>
        <p:nvSpPr>
          <p:cNvPr id="29" name="Text 26"/>
          <p:cNvSpPr/>
          <p:nvPr/>
        </p:nvSpPr>
        <p:spPr>
          <a:xfrm>
            <a:off x="1463040" y="5550408"/>
            <a:ext cx="4206240" cy="868680"/>
          </a:xfrm>
          <a:prstGeom prst="rect">
            <a:avLst/>
          </a:prstGeom>
          <a:noFill/>
          <a:ln/>
        </p:spPr>
        <p:txBody>
          <a:bodyPr wrap="square" lIns="0" tIns="0" rIns="0" bIns="0" rtlCol="0" anchor="ctr"/>
          <a:lstStyle/>
          <a:p>
            <a:pPr marL="0" indent="0">
              <a:lnSpc>
                <a:spcPts val="1350"/>
              </a:lnSpc>
              <a:buNone/>
            </a:pPr>
            <a:r>
              <a:rPr lang="en-US" sz="1000" dirty="0">
                <a:solidFill>
                  <a:srgbClr val="6B7280"/>
                </a:solidFill>
                <a:latin typeface="Calibri" pitchFamily="34" charset="0"/>
                <a:ea typeface="Calibri" pitchFamily="34" charset="-122"/>
                <a:cs typeface="Calibri" pitchFamily="34" charset="-120"/>
              </a:rPr>
              <a:t>the accept-then-record-price sequence would have to be reimplemented correctly by any other client (e.g. mobile).</a:t>
            </a:r>
            <a:endParaRPr lang="en-US" sz="1000" dirty="0"/>
          </a:p>
        </p:txBody>
      </p:sp>
      <p:sp>
        <p:nvSpPr>
          <p:cNvPr id="30" name="Shape 27"/>
          <p:cNvSpPr/>
          <p:nvPr/>
        </p:nvSpPr>
        <p:spPr>
          <a:xfrm>
            <a:off x="6309360" y="5020056"/>
            <a:ext cx="5212080" cy="1481328"/>
          </a:xfrm>
          <a:prstGeom prst="roundRect">
            <a:avLst>
              <a:gd name="adj" fmla="val 4938"/>
            </a:avLst>
          </a:prstGeom>
          <a:solidFill>
            <a:srgbClr val="FFFFFF"/>
          </a:solidFill>
          <a:ln/>
          <a:effectLst>
            <a:outerShdw blurRad="76200" dist="25400" dir="5400000" algn="bl" rotWithShape="0">
              <a:srgbClr val="000000">
                <a:alpha val="8000"/>
              </a:srgbClr>
            </a:outerShdw>
          </a:effectLst>
        </p:spPr>
      </p:sp>
      <p:sp>
        <p:nvSpPr>
          <p:cNvPr id="31" name="Shape 28"/>
          <p:cNvSpPr/>
          <p:nvPr/>
        </p:nvSpPr>
        <p:spPr>
          <a:xfrm>
            <a:off x="6510528" y="5221224"/>
            <a:ext cx="457200" cy="457200"/>
          </a:xfrm>
          <a:prstGeom prst="ellipse">
            <a:avLst/>
          </a:prstGeom>
          <a:solidFill>
            <a:srgbClr val="1B1F3B"/>
          </a:solidFill>
          <a:ln/>
        </p:spPr>
      </p:sp>
      <p:sp>
        <p:nvSpPr>
          <p:cNvPr id="32" name="Text 29"/>
          <p:cNvSpPr/>
          <p:nvPr/>
        </p:nvSpPr>
        <p:spPr>
          <a:xfrm>
            <a:off x="6510528" y="5221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3" name="Text 30"/>
          <p:cNvSpPr/>
          <p:nvPr/>
        </p:nvSpPr>
        <p:spPr>
          <a:xfrm>
            <a:off x="7132320" y="5157216"/>
            <a:ext cx="4206240" cy="411480"/>
          </a:xfrm>
          <a:prstGeom prst="rect">
            <a:avLst/>
          </a:prstGeom>
          <a:noFill/>
          <a:ln/>
        </p:spPr>
        <p:txBody>
          <a:bodyPr wrap="square" lIns="0" tIns="0" rIns="0" bIns="0" rtlCol="0" anchor="ctr"/>
          <a:lstStyle/>
          <a:p>
            <a:pPr marL="0" indent="0">
              <a:buNone/>
            </a:pPr>
            <a:r>
              <a:rPr lang="en-US" sz="1300" b="1" dirty="0">
                <a:solidFill>
                  <a:srgbClr val="22262F"/>
                </a:solidFill>
                <a:latin typeface="Cambria" pitchFamily="34" charset="0"/>
                <a:ea typeface="Cambria" pitchFamily="34" charset="-122"/>
                <a:cs typeface="Cambria" pitchFamily="34" charset="-120"/>
              </a:rPr>
              <a:t>No cleanup on stale negotiations</a:t>
            </a:r>
            <a:endParaRPr lang="en-US" sz="1300" dirty="0"/>
          </a:p>
        </p:txBody>
      </p:sp>
      <p:sp>
        <p:nvSpPr>
          <p:cNvPr id="34" name="Text 31"/>
          <p:cNvSpPr/>
          <p:nvPr/>
        </p:nvSpPr>
        <p:spPr>
          <a:xfrm>
            <a:off x="7132320" y="5550408"/>
            <a:ext cx="4206240" cy="868680"/>
          </a:xfrm>
          <a:prstGeom prst="rect">
            <a:avLst/>
          </a:prstGeom>
          <a:noFill/>
          <a:ln/>
        </p:spPr>
        <p:txBody>
          <a:bodyPr wrap="square" lIns="0" tIns="0" rIns="0" bIns="0" rtlCol="0" anchor="ctr"/>
          <a:lstStyle/>
          <a:p>
            <a:pPr marL="0" indent="0">
              <a:lnSpc>
                <a:spcPts val="1350"/>
              </a:lnSpc>
              <a:buNone/>
            </a:pPr>
            <a:r>
              <a:rPr lang="en-US" sz="1000" dirty="0">
                <a:solidFill>
                  <a:srgbClr val="6B7280"/>
                </a:solidFill>
                <a:latin typeface="Calibri" pitchFamily="34" charset="0"/>
                <a:ea typeface="Calibri" pitchFamily="34" charset="-122"/>
                <a:cs typeface="Calibri" pitchFamily="34" charset="-120"/>
              </a:rPr>
              <a:t>if a listing sells to someone else, other buyers' negotiated-price rows just sit there unused.</a:t>
            </a:r>
            <a:endParaRPr lang="en-US" sz="1000" dirty="0"/>
          </a:p>
        </p:txBody>
      </p:sp>
      <p:sp>
        <p:nvSpPr>
          <p:cNvPr id="35" name="Text 32"/>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640080" y="411480"/>
            <a:ext cx="7315200" cy="365760"/>
          </a:xfrm>
          <a:prstGeom prst="rect">
            <a:avLst/>
          </a:prstGeom>
          <a:noFill/>
          <a:ln/>
        </p:spPr>
        <p:txBody>
          <a:bodyPr wrap="square" rtlCol="0" anchor="ctr"/>
          <a:lstStyle/>
          <a:p>
            <a:pPr marL="0" indent="0">
              <a:buNone/>
            </a:pPr>
            <a:r>
              <a:rPr lang="en-US" sz="1300" b="1" kern="0" spc="300" dirty="0">
                <a:solidFill>
                  <a:srgbClr val="F4C95D"/>
                </a:solidFill>
                <a:latin typeface="Calibri" pitchFamily="34" charset="0"/>
                <a:ea typeface="Calibri" pitchFamily="34" charset="-122"/>
                <a:cs typeface="Calibri" pitchFamily="34" charset="-120"/>
              </a:rPr>
              <a:t>IF THEY PUSH FURTHER</a:t>
            </a:r>
            <a:endParaRPr lang="en-US" sz="1300" dirty="0"/>
          </a:p>
        </p:txBody>
      </p:sp>
      <p:sp>
        <p:nvSpPr>
          <p:cNvPr id="3" name="Text 1"/>
          <p:cNvSpPr/>
          <p:nvPr/>
        </p:nvSpPr>
        <p:spPr>
          <a:xfrm>
            <a:off x="640080" y="749808"/>
            <a:ext cx="10607040" cy="8229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Q: "How would you fix the biggest one?"</a:t>
            </a:r>
            <a:endParaRPr lang="en-US" sz="2600" dirty="0"/>
          </a:p>
        </p:txBody>
      </p:sp>
      <p:sp>
        <p:nvSpPr>
          <p:cNvPr id="4" name="Shape 2"/>
          <p:cNvSpPr/>
          <p:nvPr/>
        </p:nvSpPr>
        <p:spPr>
          <a:xfrm>
            <a:off x="640080" y="2103120"/>
            <a:ext cx="5074920" cy="3017520"/>
          </a:xfrm>
          <a:prstGeom prst="roundRect">
            <a:avLst>
              <a:gd name="adj" fmla="val 3030"/>
            </a:avLst>
          </a:prstGeom>
          <a:solidFill>
            <a:srgbClr val="272C52"/>
          </a:solidFill>
          <a:ln/>
        </p:spPr>
      </p:sp>
      <p:sp>
        <p:nvSpPr>
          <p:cNvPr id="5" name="Shape 3"/>
          <p:cNvSpPr/>
          <p:nvPr/>
        </p:nvSpPr>
        <p:spPr>
          <a:xfrm>
            <a:off x="640080" y="2103120"/>
            <a:ext cx="5074920" cy="73152"/>
          </a:xfrm>
          <a:prstGeom prst="rect">
            <a:avLst/>
          </a:prstGeom>
          <a:solidFill>
            <a:srgbClr val="FF6F59"/>
          </a:solidFill>
          <a:ln/>
        </p:spPr>
      </p:sp>
      <p:sp>
        <p:nvSpPr>
          <p:cNvPr id="6" name="Text 4"/>
          <p:cNvSpPr/>
          <p:nvPr/>
        </p:nvSpPr>
        <p:spPr>
          <a:xfrm>
            <a:off x="960120" y="2377440"/>
            <a:ext cx="4434840" cy="640080"/>
          </a:xfrm>
          <a:prstGeom prst="rect">
            <a:avLst/>
          </a:prstGeom>
          <a:noFill/>
          <a:ln/>
        </p:spPr>
        <p:txBody>
          <a:bodyPr wrap="square" lIns="0" tIns="0" rIns="0" bIns="0" rtlCol="0" anchor="ctr"/>
          <a:lstStyle/>
          <a:p>
            <a:pPr marL="0" indent="0">
              <a:lnSpc>
                <a:spcPts val="1800"/>
              </a:lnSpc>
              <a:buNone/>
            </a:pPr>
            <a:r>
              <a:rPr lang="en-US" sz="1500" b="1" dirty="0">
                <a:solidFill>
                  <a:srgbClr val="FF6F59"/>
                </a:solidFill>
                <a:latin typeface="Cambria" pitchFamily="34" charset="0"/>
                <a:ea typeface="Cambria" pitchFamily="34" charset="-122"/>
                <a:cs typeface="Cambria" pitchFamily="34" charset="-120"/>
              </a:rPr>
              <a:t>Option A — Verify server-to-server</a:t>
            </a:r>
            <a:endParaRPr lang="en-US" sz="1500" dirty="0"/>
          </a:p>
        </p:txBody>
      </p:sp>
      <p:sp>
        <p:nvSpPr>
          <p:cNvPr id="7" name="Text 5"/>
          <p:cNvSpPr/>
          <p:nvPr/>
        </p:nvSpPr>
        <p:spPr>
          <a:xfrm>
            <a:off x="960120" y="3063240"/>
            <a:ext cx="4434840" cy="1920240"/>
          </a:xfrm>
          <a:prstGeom prst="rect">
            <a:avLst/>
          </a:prstGeom>
          <a:noFill/>
          <a:ln/>
        </p:spPr>
        <p:txBody>
          <a:bodyPr wrap="square" lIns="0" tIns="0" rIns="0" bIns="0" rtlCol="0" anchor="ctr"/>
          <a:lstStyle/>
          <a:p>
            <a:pPr marL="0" indent="0">
              <a:lnSpc>
                <a:spcPts val="1600"/>
              </a:lnSpc>
              <a:buNone/>
            </a:pPr>
            <a:r>
              <a:rPr lang="en-US" sz="1200" dirty="0">
                <a:solidFill>
                  <a:srgbClr val="D7D9E4"/>
                </a:solidFill>
                <a:latin typeface="Calibri" pitchFamily="34" charset="0"/>
                <a:ea typeface="Calibri" pitchFamily="34" charset="-122"/>
                <a:cs typeface="Calibri" pitchFamily="34" charset="-120"/>
              </a:rPr>
              <a:t>listing-service calls chat-service to confirm a matching accepted offer exists before writing the price. Tighter coupling between services, but the data can't be forged from outside.</a:t>
            </a:r>
            <a:endParaRPr lang="en-US" sz="1200" dirty="0"/>
          </a:p>
        </p:txBody>
      </p:sp>
      <p:sp>
        <p:nvSpPr>
          <p:cNvPr id="8" name="Shape 6"/>
          <p:cNvSpPr/>
          <p:nvPr/>
        </p:nvSpPr>
        <p:spPr>
          <a:xfrm>
            <a:off x="6172200" y="2103120"/>
            <a:ext cx="5074920" cy="3017520"/>
          </a:xfrm>
          <a:prstGeom prst="roundRect">
            <a:avLst>
              <a:gd name="adj" fmla="val 3030"/>
            </a:avLst>
          </a:prstGeom>
          <a:solidFill>
            <a:srgbClr val="272C52"/>
          </a:solidFill>
          <a:ln/>
        </p:spPr>
      </p:sp>
      <p:sp>
        <p:nvSpPr>
          <p:cNvPr id="9" name="Shape 7"/>
          <p:cNvSpPr/>
          <p:nvPr/>
        </p:nvSpPr>
        <p:spPr>
          <a:xfrm>
            <a:off x="6172200" y="2103120"/>
            <a:ext cx="5074920" cy="73152"/>
          </a:xfrm>
          <a:prstGeom prst="rect">
            <a:avLst/>
          </a:prstGeom>
          <a:solidFill>
            <a:srgbClr val="F4C95D"/>
          </a:solidFill>
          <a:ln/>
        </p:spPr>
      </p:sp>
      <p:sp>
        <p:nvSpPr>
          <p:cNvPr id="10" name="Text 8"/>
          <p:cNvSpPr/>
          <p:nvPr/>
        </p:nvSpPr>
        <p:spPr>
          <a:xfrm>
            <a:off x="6492240" y="2377440"/>
            <a:ext cx="4434840" cy="640080"/>
          </a:xfrm>
          <a:prstGeom prst="rect">
            <a:avLst/>
          </a:prstGeom>
          <a:noFill/>
          <a:ln/>
        </p:spPr>
        <p:txBody>
          <a:bodyPr wrap="square" lIns="0" tIns="0" rIns="0" bIns="0" rtlCol="0" anchor="ctr"/>
          <a:lstStyle/>
          <a:p>
            <a:pPr marL="0" indent="0">
              <a:lnSpc>
                <a:spcPts val="1800"/>
              </a:lnSpc>
              <a:buNone/>
            </a:pPr>
            <a:r>
              <a:rPr lang="en-US" sz="1500" b="1" dirty="0">
                <a:solidFill>
                  <a:srgbClr val="F4C95D"/>
                </a:solidFill>
                <a:latin typeface="Cambria" pitchFamily="34" charset="0"/>
                <a:ea typeface="Cambria" pitchFamily="34" charset="-122"/>
                <a:cs typeface="Cambria" pitchFamily="34" charset="-120"/>
              </a:rPr>
              <a:t>Option B — Collapse the two steps</a:t>
            </a:r>
            <a:endParaRPr lang="en-US" sz="1500" dirty="0"/>
          </a:p>
        </p:txBody>
      </p:sp>
      <p:sp>
        <p:nvSpPr>
          <p:cNvPr id="11" name="Text 9"/>
          <p:cNvSpPr/>
          <p:nvPr/>
        </p:nvSpPr>
        <p:spPr>
          <a:xfrm>
            <a:off x="6492240" y="3063240"/>
            <a:ext cx="4434840" cy="1920240"/>
          </a:xfrm>
          <a:prstGeom prst="rect">
            <a:avLst/>
          </a:prstGeom>
          <a:noFill/>
          <a:ln/>
        </p:spPr>
        <p:txBody>
          <a:bodyPr wrap="square" lIns="0" tIns="0" rIns="0" bIns="0" rtlCol="0" anchor="ctr"/>
          <a:lstStyle/>
          <a:p>
            <a:pPr marL="0" indent="0">
              <a:lnSpc>
                <a:spcPts val="1600"/>
              </a:lnSpc>
              <a:buNone/>
            </a:pPr>
            <a:r>
              <a:rPr lang="en-US" sz="1200" dirty="0">
                <a:solidFill>
                  <a:srgbClr val="D7D9E4"/>
                </a:solidFill>
                <a:latin typeface="Calibri" pitchFamily="34" charset="0"/>
                <a:ea typeface="Calibri" pitchFamily="34" charset="-122"/>
                <a:cs typeface="Calibri" pitchFamily="34" charset="-120"/>
              </a:rPr>
              <a:t>chat-service's respond endpoint becomes the single place that triggers the price write, calling listing-service itself the moment an offer is accepted — no separate client-driven call at all.</a:t>
            </a:r>
            <a:endParaRPr lang="en-US" sz="1200" dirty="0"/>
          </a:p>
        </p:txBody>
      </p:sp>
      <p:sp>
        <p:nvSpPr>
          <p:cNvPr id="12" name="Text 10"/>
          <p:cNvSpPr/>
          <p:nvPr/>
        </p:nvSpPr>
        <p:spPr>
          <a:xfrm>
            <a:off x="640080" y="5486400"/>
            <a:ext cx="10881360" cy="457200"/>
          </a:xfrm>
          <a:prstGeom prst="rect">
            <a:avLst/>
          </a:prstGeom>
          <a:noFill/>
          <a:ln/>
        </p:spPr>
        <p:txBody>
          <a:bodyPr wrap="square" rtlCol="0" anchor="ctr"/>
          <a:lstStyle/>
          <a:p>
            <a:pPr marL="0" indent="0">
              <a:buNone/>
            </a:pPr>
            <a:r>
              <a:rPr lang="en-US" sz="1150" i="1" dirty="0">
                <a:solidFill>
                  <a:srgbClr val="9498B0"/>
                </a:solidFill>
                <a:latin typeface="Calibri" pitchFamily="34" charset="0"/>
                <a:ea typeface="Calibri" pitchFamily="34" charset="-122"/>
                <a:cs typeface="Calibri" pitchFamily="34" charset="-120"/>
              </a:rPr>
              <a:t>Either way: the price write becomes something the system guarantees, not something the frontend is trusted to do correctly.</a:t>
            </a:r>
            <a:endParaRPr lang="en-US" sz="1150" dirty="0"/>
          </a:p>
        </p:txBody>
      </p:sp>
      <p:sp>
        <p:nvSpPr>
          <p:cNvPr id="13" name="Text 11"/>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FFFFFF">
                    <a:alpha val="60000"/>
                  </a:srgbClr>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463040" y="-1645920"/>
            <a:ext cx="4937760" cy="4937760"/>
          </a:xfrm>
          <a:prstGeom prst="ellipse">
            <a:avLst/>
          </a:prstGeom>
          <a:solidFill>
            <a:srgbClr val="FF6F59">
              <a:alpha val="10000"/>
            </a:srgbClr>
          </a:solidFill>
          <a:ln/>
        </p:spPr>
      </p:sp>
      <p:sp>
        <p:nvSpPr>
          <p:cNvPr id="3" name="Text 1"/>
          <p:cNvSpPr/>
          <p:nvPr/>
        </p:nvSpPr>
        <p:spPr>
          <a:xfrm>
            <a:off x="822960" y="2377440"/>
            <a:ext cx="7315200" cy="1188720"/>
          </a:xfrm>
          <a:prstGeom prst="rect">
            <a:avLst/>
          </a:prstGeom>
          <a:noFill/>
          <a:ln/>
        </p:spPr>
        <p:txBody>
          <a:bodyPr wrap="square" lIns="0" tIns="0" rIns="0" bIns="0"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TAGG</a:t>
            </a:r>
            <a:endParaRPr lang="en-US" sz="6000" dirty="0"/>
          </a:p>
        </p:txBody>
      </p:sp>
      <p:sp>
        <p:nvSpPr>
          <p:cNvPr id="4" name="Text 2"/>
          <p:cNvSpPr/>
          <p:nvPr/>
        </p:nvSpPr>
        <p:spPr>
          <a:xfrm>
            <a:off x="822960" y="3520440"/>
            <a:ext cx="8686800" cy="822960"/>
          </a:xfrm>
          <a:prstGeom prst="rect">
            <a:avLst/>
          </a:prstGeom>
          <a:noFill/>
          <a:ln/>
        </p:spPr>
        <p:txBody>
          <a:bodyPr wrap="square" rtlCol="0" anchor="ctr"/>
          <a:lstStyle/>
          <a:p>
            <a:pPr marL="0" indent="0">
              <a:lnSpc>
                <a:spcPts val="2000"/>
              </a:lnSpc>
              <a:buNone/>
            </a:pPr>
            <a:r>
              <a:rPr lang="en-US" sz="1500" i="1" dirty="0">
                <a:solidFill>
                  <a:srgbClr val="D7D9E4"/>
                </a:solidFill>
                <a:latin typeface="Calibri" pitchFamily="34" charset="0"/>
                <a:ea typeface="Calibri" pitchFamily="34" charset="-122"/>
                <a:cs typeface="Calibri" pitchFamily="34" charset="-120"/>
              </a:rPr>
              <a:t>Built as three services that own their own data —</a:t>
            </a:r>
            <a:endParaRPr lang="en-US" sz="1500" dirty="0"/>
          </a:p>
          <a:p>
            <a:pPr marL="0" indent="0">
              <a:lnSpc>
                <a:spcPts val="2000"/>
              </a:lnSpc>
              <a:buNone/>
            </a:pPr>
            <a:r>
              <a:rPr lang="en-US" sz="1500" i="1" dirty="0">
                <a:solidFill>
                  <a:srgbClr val="D7D9E4"/>
                </a:solidFill>
                <a:latin typeface="Calibri" pitchFamily="34" charset="0"/>
                <a:ea typeface="Calibri" pitchFamily="34" charset="-122"/>
                <a:cs typeface="Calibri" pitchFamily="34" charset="-120"/>
              </a:rPr>
              <a:t>and a bargaining flow that behaves like a real marketplace, not a form.</a:t>
            </a:r>
            <a:endParaRPr lang="en-US" sz="1500" dirty="0"/>
          </a:p>
        </p:txBody>
      </p:sp>
      <p:sp>
        <p:nvSpPr>
          <p:cNvPr id="5" name="Text 3"/>
          <p:cNvSpPr/>
          <p:nvPr/>
        </p:nvSpPr>
        <p:spPr>
          <a:xfrm>
            <a:off x="822960" y="4846320"/>
            <a:ext cx="5486400" cy="548640"/>
          </a:xfrm>
          <a:prstGeom prst="rect">
            <a:avLst/>
          </a:prstGeom>
          <a:noFill/>
          <a:ln/>
        </p:spPr>
        <p:txBody>
          <a:bodyPr wrap="square" rtlCol="0" anchor="ctr"/>
          <a:lstStyle/>
          <a:p>
            <a:pPr marL="0" indent="0">
              <a:buNone/>
            </a:pPr>
            <a:r>
              <a:rPr lang="en-US" sz="2200" b="1" dirty="0">
                <a:solidFill>
                  <a:srgbClr val="F4C95D"/>
                </a:solidFill>
                <a:latin typeface="Cambria" pitchFamily="34" charset="0"/>
                <a:ea typeface="Cambria" pitchFamily="34" charset="-122"/>
                <a:cs typeface="Cambria" pitchFamily="34" charset="-120"/>
              </a:rPr>
              <a:t>Thank you</a:t>
            </a:r>
            <a:endParaRPr lang="en-US" sz="2200" dirty="0"/>
          </a:p>
        </p:txBody>
      </p:sp>
      <p:sp>
        <p:nvSpPr>
          <p:cNvPr id="6" name="Text 4"/>
          <p:cNvSpPr/>
          <p:nvPr/>
        </p:nvSpPr>
        <p:spPr>
          <a:xfrm>
            <a:off x="11368735" y="6355080"/>
            <a:ext cx="548640" cy="274320"/>
          </a:xfrm>
          <a:prstGeom prst="rect">
            <a:avLst/>
          </a:prstGeom>
          <a:noFill/>
          <a:ln/>
        </p:spPr>
        <p:txBody>
          <a:bodyPr wrap="square" rtlCol="0" anchor="ctr"/>
          <a:lstStyle/>
          <a:p>
            <a:pPr marL="0" indent="0" algn="r">
              <a:buNone/>
            </a:pPr>
            <a:r>
              <a:rPr lang="en-US" sz="1000" dirty="0">
                <a:solidFill>
                  <a:srgbClr val="FFFFFF">
                    <a:alpha val="60000"/>
                  </a:srgbClr>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2957</TotalTime>
  <Words>2127</Words>
  <Application>Microsoft Office PowerPoint</Application>
  <PresentationFormat>Widescreen</PresentationFormat>
  <Paragraphs>214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Devansh Pandey</cp:lastModifiedBy>
  <cp:revision>2</cp:revision>
  <dcterms:created xsi:type="dcterms:W3CDTF">2026-07-16T11:01:48Z</dcterms:created>
  <dcterms:modified xsi:type="dcterms:W3CDTF">2026-07-18T12:22:55Z</dcterms:modified>
</cp:coreProperties>
</file>